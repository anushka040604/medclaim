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72" r:id="rId5"/>
    <p:sldId id="273" r:id="rId6"/>
    <p:sldId id="274" r:id="rId7"/>
    <p:sldId id="260" r:id="rId8"/>
    <p:sldId id="275" r:id="rId9"/>
    <p:sldId id="276" r:id="rId10"/>
    <p:sldId id="277" r:id="rId11"/>
    <p:sldId id="278" r:id="rId12"/>
    <p:sldId id="279" r:id="rId13"/>
    <p:sldId id="266" r:id="rId14"/>
    <p:sldId id="267" r:id="rId15"/>
    <p:sldId id="268" r:id="rId16"/>
    <p:sldId id="269" r:id="rId17"/>
    <p:sldId id="28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EC636A-FEF4-2CBE-D04A-2FEF07292371}" v="4" dt="2026-05-03T08:08:01.562"/>
    <p1510:client id="{6AD87EFF-F55E-3F44-3AE0-CA6CE2CF30BC}" v="1704" dt="2026-05-03T08:25:31.7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95" d="100"/>
          <a:sy n="95" d="100"/>
        </p:scale>
        <p:origin x="76" y="5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LeftAccent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B2A4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C3E6B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A94561-4DA3-4DB5-86C4-03B4CD024E95}"/>
              </a:ext>
            </a:extLst>
          </p:cNvPr>
          <p:cNvSpPr txBox="1"/>
          <p:nvPr/>
        </p:nvSpPr>
        <p:spPr>
          <a:xfrm>
            <a:off x="914400" y="1651000"/>
            <a:ext cx="10363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D7C66"/>
                </a:solidFill>
              </a:rPr>
              <a:t>CAPSTONE 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CD0DCF-9DCB-4A1C-93E6-3494CB17826E}"/>
              </a:ext>
            </a:extLst>
          </p:cNvPr>
          <p:cNvSpPr txBox="1"/>
          <p:nvPr/>
        </p:nvSpPr>
        <p:spPr>
          <a:xfrm>
            <a:off x="914400" y="2095500"/>
            <a:ext cx="103632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400" b="1">
                <a:solidFill>
                  <a:srgbClr val="1B2A4A"/>
                </a:solidFill>
              </a:rPr>
              <a:t>Medical Claim Verification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2EA178-5BB5-4842-B573-5AEF5E78C872}"/>
              </a:ext>
            </a:extLst>
          </p:cNvPr>
          <p:cNvSpPr/>
          <p:nvPr/>
        </p:nvSpPr>
        <p:spPr>
          <a:xfrm>
            <a:off x="914400" y="3302000"/>
            <a:ext cx="1016000" cy="50800"/>
          </a:xfrm>
          <a:prstGeom prst="rect">
            <a:avLst/>
          </a:prstGeom>
          <a:solidFill>
            <a:srgbClr val="0D7C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E7C312-2A74-4563-A47B-339195423950}"/>
              </a:ext>
            </a:extLst>
          </p:cNvPr>
          <p:cNvSpPr txBox="1"/>
          <p:nvPr/>
        </p:nvSpPr>
        <p:spPr>
          <a:xfrm>
            <a:off x="914400" y="36195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0D7C66"/>
                </a:solidFill>
              </a:rPr>
              <a:t>SUBTITLE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31BD7C-7723-4277-BC07-F721AA8A8598}"/>
              </a:ext>
            </a:extLst>
          </p:cNvPr>
          <p:cNvSpPr txBox="1"/>
          <p:nvPr/>
        </p:nvSpPr>
        <p:spPr>
          <a:xfrm>
            <a:off x="914400" y="3937000"/>
            <a:ext cx="103632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2200" i="1" dirty="0">
                <a:solidFill>
                  <a:srgbClr val="2C3E6B"/>
                </a:solidFill>
              </a:rPr>
              <a:t>Decision-support system for insurance claims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2030C2-6947-4492-9182-6A647522C5B1}"/>
              </a:ext>
            </a:extLst>
          </p:cNvPr>
          <p:cNvSpPr txBox="1"/>
          <p:nvPr/>
        </p:nvSpPr>
        <p:spPr>
          <a:xfrm>
            <a:off x="914400" y="5842000"/>
            <a:ext cx="103632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600" dirty="0">
                <a:solidFill>
                  <a:srgbClr val="2C3E6B"/>
                </a:solidFill>
              </a:rPr>
              <a:t>Presented by [Your Name]</a:t>
            </a:r>
          </a:p>
        </p:txBody>
      </p:sp>
    </p:spTree>
    <p:extLst>
      <p:ext uri="{BB962C8B-B14F-4D97-AF65-F5344CB8AC3E}">
        <p14:creationId xmlns:p14="http://schemas.microsoft.com/office/powerpoint/2010/main" val="4286330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14F450-D240-472C-85A1-C1FD14CDE4E1}"/>
              </a:ext>
            </a:extLst>
          </p:cNvPr>
          <p:cNvSpPr txBox="1"/>
          <p:nvPr/>
        </p:nvSpPr>
        <p:spPr>
          <a:xfrm>
            <a:off x="914400" y="635000"/>
            <a:ext cx="10363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D7C66"/>
                </a:solidFill>
              </a:rPr>
              <a:t>02  /  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451304-74C9-4749-A26D-545AFFD66E60}"/>
              </a:ext>
            </a:extLst>
          </p:cNvPr>
          <p:cNvSpPr txBox="1"/>
          <p:nvPr/>
        </p:nvSpPr>
        <p:spPr>
          <a:xfrm>
            <a:off x="914400" y="1016000"/>
            <a:ext cx="10363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1B2A4A"/>
                </a:solidFill>
              </a:rPr>
              <a:t>Approvers spend time reading, not deciding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15AC14-013F-46D8-98F9-27D8658B9212}"/>
              </a:ext>
            </a:extLst>
          </p:cNvPr>
          <p:cNvSpPr/>
          <p:nvPr/>
        </p:nvSpPr>
        <p:spPr>
          <a:xfrm>
            <a:off x="914400" y="2095500"/>
            <a:ext cx="4826000" cy="1397000"/>
          </a:xfrm>
          <a:prstGeom prst="rect">
            <a:avLst/>
          </a:prstGeom>
          <a:solidFill>
            <a:srgbClr val="F0F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48B452-15C4-4A12-857E-80BEB2BEA21D}"/>
              </a:ext>
            </a:extLst>
          </p:cNvPr>
          <p:cNvSpPr/>
          <p:nvPr/>
        </p:nvSpPr>
        <p:spPr>
          <a:xfrm>
            <a:off x="914400" y="2095500"/>
            <a:ext cx="63500" cy="1397000"/>
          </a:xfrm>
          <a:prstGeom prst="rect">
            <a:avLst/>
          </a:prstGeom>
          <a:solidFill>
            <a:srgbClr val="E856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F08C84-7C98-4B42-9DA1-05CC662ECF00}"/>
              </a:ext>
            </a:extLst>
          </p:cNvPr>
          <p:cNvSpPr txBox="1"/>
          <p:nvPr/>
        </p:nvSpPr>
        <p:spPr>
          <a:xfrm>
            <a:off x="1193800" y="2324100"/>
            <a:ext cx="444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B2A4A"/>
                </a:solidFill>
              </a:rPr>
              <a:t>Manual claim processing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875B5E-BC43-42CD-8094-647BAFBB6771}"/>
              </a:ext>
            </a:extLst>
          </p:cNvPr>
          <p:cNvSpPr txBox="1"/>
          <p:nvPr/>
        </p:nvSpPr>
        <p:spPr>
          <a:xfrm>
            <a:off x="1193800" y="2730500"/>
            <a:ext cx="444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2C3E6B"/>
                </a:solidFill>
              </a:rPr>
              <a:t>Every claim handled by hand, page by page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5059DA-C387-43BE-8E28-F04F00FA389D}"/>
              </a:ext>
            </a:extLst>
          </p:cNvPr>
          <p:cNvSpPr/>
          <p:nvPr/>
        </p:nvSpPr>
        <p:spPr>
          <a:xfrm>
            <a:off x="6121400" y="2095500"/>
            <a:ext cx="4826000" cy="1397000"/>
          </a:xfrm>
          <a:prstGeom prst="rect">
            <a:avLst/>
          </a:prstGeom>
          <a:solidFill>
            <a:srgbClr val="F0F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971CD8-AC3C-4E03-99AC-7F7B70F7087B}"/>
              </a:ext>
            </a:extLst>
          </p:cNvPr>
          <p:cNvSpPr/>
          <p:nvPr/>
        </p:nvSpPr>
        <p:spPr>
          <a:xfrm>
            <a:off x="6121400" y="2095500"/>
            <a:ext cx="63500" cy="1397000"/>
          </a:xfrm>
          <a:prstGeom prst="rect">
            <a:avLst/>
          </a:prstGeom>
          <a:solidFill>
            <a:srgbClr val="F4A9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85F678-7A4C-4CC0-9702-E195C00E3B58}"/>
              </a:ext>
            </a:extLst>
          </p:cNvPr>
          <p:cNvSpPr txBox="1"/>
          <p:nvPr/>
        </p:nvSpPr>
        <p:spPr>
          <a:xfrm>
            <a:off x="6400800" y="2324100"/>
            <a:ext cx="444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B2A4A"/>
                </a:solidFill>
              </a:rPr>
              <a:t>PDF reading + data copying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2A437A-CAC4-4B6B-870D-9F5430E20A62}"/>
              </a:ext>
            </a:extLst>
          </p:cNvPr>
          <p:cNvSpPr txBox="1"/>
          <p:nvPr/>
        </p:nvSpPr>
        <p:spPr>
          <a:xfrm>
            <a:off x="6400800" y="2730500"/>
            <a:ext cx="444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2C3E6B"/>
                </a:solidFill>
              </a:rPr>
              <a:t>Reviewers re-type data into the system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E1EB50-E90D-437D-AEAC-A0F7C1A550FC}"/>
              </a:ext>
            </a:extLst>
          </p:cNvPr>
          <p:cNvSpPr/>
          <p:nvPr/>
        </p:nvSpPr>
        <p:spPr>
          <a:xfrm>
            <a:off x="914400" y="3746500"/>
            <a:ext cx="4826000" cy="1397000"/>
          </a:xfrm>
          <a:prstGeom prst="rect">
            <a:avLst/>
          </a:prstGeom>
          <a:solidFill>
            <a:srgbClr val="F0F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26AD65-83A8-4150-9CE5-670E43B4D938}"/>
              </a:ext>
            </a:extLst>
          </p:cNvPr>
          <p:cNvSpPr/>
          <p:nvPr/>
        </p:nvSpPr>
        <p:spPr>
          <a:xfrm>
            <a:off x="914400" y="3746500"/>
            <a:ext cx="63500" cy="1397000"/>
          </a:xfrm>
          <a:prstGeom prst="rect">
            <a:avLst/>
          </a:prstGeom>
          <a:solidFill>
            <a:srgbClr val="E856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8687ED-E291-4073-B043-D8A9654F70CA}"/>
              </a:ext>
            </a:extLst>
          </p:cNvPr>
          <p:cNvSpPr txBox="1"/>
          <p:nvPr/>
        </p:nvSpPr>
        <p:spPr>
          <a:xfrm>
            <a:off x="1193800" y="3975100"/>
            <a:ext cx="444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B2A4A"/>
                </a:solidFill>
              </a:rPr>
              <a:t>Fraud and wrong payouts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6D57EF-3004-4DFB-A831-B26C8C503E66}"/>
              </a:ext>
            </a:extLst>
          </p:cNvPr>
          <p:cNvSpPr txBox="1"/>
          <p:nvPr/>
        </p:nvSpPr>
        <p:spPr>
          <a:xfrm>
            <a:off x="1193800" y="4381500"/>
            <a:ext cx="444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2C3E6B"/>
                </a:solidFill>
              </a:rPr>
              <a:t>Inflated bills and false claims slip through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13730A-0E44-4EDA-A428-A00517985775}"/>
              </a:ext>
            </a:extLst>
          </p:cNvPr>
          <p:cNvSpPr/>
          <p:nvPr/>
        </p:nvSpPr>
        <p:spPr>
          <a:xfrm>
            <a:off x="6121400" y="3746500"/>
            <a:ext cx="4826000" cy="1397000"/>
          </a:xfrm>
          <a:prstGeom prst="rect">
            <a:avLst/>
          </a:prstGeom>
          <a:solidFill>
            <a:srgbClr val="F0F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7B5FC1-DA68-4F66-B05B-4469FCF75714}"/>
              </a:ext>
            </a:extLst>
          </p:cNvPr>
          <p:cNvSpPr/>
          <p:nvPr/>
        </p:nvSpPr>
        <p:spPr>
          <a:xfrm>
            <a:off x="6121400" y="3746500"/>
            <a:ext cx="63500" cy="1397000"/>
          </a:xfrm>
          <a:prstGeom prst="rect">
            <a:avLst/>
          </a:prstGeom>
          <a:solidFill>
            <a:srgbClr val="F4A9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9D1820-29E3-4838-846B-2B052DF05B94}"/>
              </a:ext>
            </a:extLst>
          </p:cNvPr>
          <p:cNvSpPr txBox="1"/>
          <p:nvPr/>
        </p:nvSpPr>
        <p:spPr>
          <a:xfrm>
            <a:off x="6400800" y="3975100"/>
            <a:ext cx="444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B2A4A"/>
                </a:solidFill>
              </a:rPr>
              <a:t>Slow and not scalable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D781EA-69F1-42A9-97AB-98D46C335E2B}"/>
              </a:ext>
            </a:extLst>
          </p:cNvPr>
          <p:cNvSpPr txBox="1"/>
          <p:nvPr/>
        </p:nvSpPr>
        <p:spPr>
          <a:xfrm>
            <a:off x="6400800" y="4381500"/>
            <a:ext cx="444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2C3E6B"/>
                </a:solidFill>
              </a:rPr>
              <a:t>Volume grows; review capacity does not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5A361-94D9-4930-843D-2F62CCC6E5E9}"/>
              </a:ext>
            </a:extLst>
          </p:cNvPr>
          <p:cNvSpPr/>
          <p:nvPr/>
        </p:nvSpPr>
        <p:spPr>
          <a:xfrm>
            <a:off x="914400" y="5588000"/>
            <a:ext cx="10363200" cy="635000"/>
          </a:xfrm>
          <a:prstGeom prst="rect">
            <a:avLst/>
          </a:prstGeom>
          <a:solidFill>
            <a:srgbClr val="0D7C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0488C9-82AC-4D66-BE0D-AF746E05E74E}"/>
              </a:ext>
            </a:extLst>
          </p:cNvPr>
          <p:cNvSpPr txBox="1"/>
          <p:nvPr/>
        </p:nvSpPr>
        <p:spPr>
          <a:xfrm>
            <a:off x="1168400" y="5715000"/>
            <a:ext cx="9855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Approvers spend time reading, not deciding</a:t>
            </a:r>
          </a:p>
        </p:txBody>
      </p:sp>
    </p:spTree>
    <p:extLst>
      <p:ext uri="{BB962C8B-B14F-4D97-AF65-F5344CB8AC3E}">
        <p14:creationId xmlns:p14="http://schemas.microsoft.com/office/powerpoint/2010/main" val="4203504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E25E06-4744-43EC-94E0-543ECCC592EB}"/>
              </a:ext>
            </a:extLst>
          </p:cNvPr>
          <p:cNvSpPr txBox="1"/>
          <p:nvPr/>
        </p:nvSpPr>
        <p:spPr>
          <a:xfrm>
            <a:off x="914400" y="635000"/>
            <a:ext cx="10363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D7C66"/>
                </a:solidFill>
              </a:rPr>
              <a:t>03  /  SOLUTION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CA2127-071C-4AD8-A85A-19A22D260312}"/>
              </a:ext>
            </a:extLst>
          </p:cNvPr>
          <p:cNvSpPr txBox="1"/>
          <p:nvPr/>
        </p:nvSpPr>
        <p:spPr>
          <a:xfrm>
            <a:off x="914400" y="1016000"/>
            <a:ext cx="10363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3000" b="1" dirty="0">
                <a:solidFill>
                  <a:srgbClr val="1B2A4A"/>
                </a:solidFill>
              </a:rPr>
              <a:t>End-to-end AI pipeline for claim review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D6945A-CC37-4AFE-A0B0-8F4F4A13EB87}"/>
              </a:ext>
            </a:extLst>
          </p:cNvPr>
          <p:cNvSpPr/>
          <p:nvPr/>
        </p:nvSpPr>
        <p:spPr>
          <a:xfrm>
            <a:off x="914400" y="1968500"/>
            <a:ext cx="3175000" cy="165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1E5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5CEA14E-4FAC-41BA-B29C-B5EC94C4F16B}"/>
              </a:ext>
            </a:extLst>
          </p:cNvPr>
          <p:cNvSpPr/>
          <p:nvPr/>
        </p:nvSpPr>
        <p:spPr>
          <a:xfrm>
            <a:off x="1117600" y="2171700"/>
            <a:ext cx="457200" cy="457200"/>
          </a:xfrm>
          <a:prstGeom prst="ellipse">
            <a:avLst/>
          </a:prstGeom>
          <a:solidFill>
            <a:srgbClr val="0D7C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5293BF-CD2D-4D8B-9C01-649118353B8F}"/>
              </a:ext>
            </a:extLst>
          </p:cNvPr>
          <p:cNvSpPr txBox="1"/>
          <p:nvPr/>
        </p:nvSpPr>
        <p:spPr>
          <a:xfrm>
            <a:off x="1117600" y="2730500"/>
            <a:ext cx="279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1B2A4A"/>
                </a:solidFill>
              </a:rPr>
              <a:t>Upload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BF9331-C600-4BC4-A870-BF936645A562}"/>
              </a:ext>
            </a:extLst>
          </p:cNvPr>
          <p:cNvSpPr txBox="1"/>
          <p:nvPr/>
        </p:nvSpPr>
        <p:spPr>
          <a:xfrm>
            <a:off x="1117600" y="3060700"/>
            <a:ext cx="279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2C3E6B"/>
                </a:solidFill>
              </a:rPr>
              <a:t>Claim form + supporting documents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D815F0-0C98-42D5-B856-601BFF0711D6}"/>
              </a:ext>
            </a:extLst>
          </p:cNvPr>
          <p:cNvSpPr/>
          <p:nvPr/>
        </p:nvSpPr>
        <p:spPr>
          <a:xfrm>
            <a:off x="4445000" y="1968500"/>
            <a:ext cx="3175000" cy="165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1E5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B799BE4-1C7F-4D90-88EE-3E7DB39B6F86}"/>
              </a:ext>
            </a:extLst>
          </p:cNvPr>
          <p:cNvSpPr/>
          <p:nvPr/>
        </p:nvSpPr>
        <p:spPr>
          <a:xfrm>
            <a:off x="4648200" y="2171700"/>
            <a:ext cx="457200" cy="457200"/>
          </a:xfrm>
          <a:prstGeom prst="ellipse">
            <a:avLst/>
          </a:prstGeom>
          <a:solidFill>
            <a:srgbClr val="0D7C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EFC230-5C2A-4C1C-9E84-E935BE3EDADB}"/>
              </a:ext>
            </a:extLst>
          </p:cNvPr>
          <p:cNvSpPr txBox="1"/>
          <p:nvPr/>
        </p:nvSpPr>
        <p:spPr>
          <a:xfrm>
            <a:off x="4648200" y="2730500"/>
            <a:ext cx="279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1B2A4A"/>
                </a:solidFill>
              </a:rPr>
              <a:t>AI pipeline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F889B6-EF6A-4B34-8B3D-134734492C92}"/>
              </a:ext>
            </a:extLst>
          </p:cNvPr>
          <p:cNvSpPr txBox="1"/>
          <p:nvPr/>
        </p:nvSpPr>
        <p:spPr>
          <a:xfrm>
            <a:off x="4648200" y="3060700"/>
            <a:ext cx="279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2C3E6B"/>
                </a:solidFill>
              </a:rPr>
              <a:t>OCR, extraction, validation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335AF2-B039-4935-81EE-82AA0E09CEDF}"/>
              </a:ext>
            </a:extLst>
          </p:cNvPr>
          <p:cNvSpPr/>
          <p:nvPr/>
        </p:nvSpPr>
        <p:spPr>
          <a:xfrm>
            <a:off x="7975600" y="1968500"/>
            <a:ext cx="3175000" cy="165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1E5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63C3992-1174-43A0-A095-932A9A406FBF}"/>
              </a:ext>
            </a:extLst>
          </p:cNvPr>
          <p:cNvSpPr/>
          <p:nvPr/>
        </p:nvSpPr>
        <p:spPr>
          <a:xfrm>
            <a:off x="8178800" y="2171700"/>
            <a:ext cx="457200" cy="457200"/>
          </a:xfrm>
          <a:prstGeom prst="ellipse">
            <a:avLst/>
          </a:prstGeom>
          <a:solidFill>
            <a:srgbClr val="0D7C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3B4FBE-C7C9-474D-B4E7-1B6094129AF4}"/>
              </a:ext>
            </a:extLst>
          </p:cNvPr>
          <p:cNvSpPr txBox="1"/>
          <p:nvPr/>
        </p:nvSpPr>
        <p:spPr>
          <a:xfrm>
            <a:off x="8178800" y="2730500"/>
            <a:ext cx="279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1B2A4A"/>
                </a:solidFill>
              </a:rPr>
              <a:t>Issues detected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8E9B9B-CA7D-4C55-A204-4981BEC953AC}"/>
              </a:ext>
            </a:extLst>
          </p:cNvPr>
          <p:cNvSpPr txBox="1"/>
          <p:nvPr/>
        </p:nvSpPr>
        <p:spPr>
          <a:xfrm>
            <a:off x="8178800" y="3060700"/>
            <a:ext cx="279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2C3E6B"/>
                </a:solidFill>
              </a:rPr>
              <a:t>Mismatches and gaps flagged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AC02DA-56CC-46C6-9755-DEB36CBF4BA8}"/>
              </a:ext>
            </a:extLst>
          </p:cNvPr>
          <p:cNvSpPr/>
          <p:nvPr/>
        </p:nvSpPr>
        <p:spPr>
          <a:xfrm>
            <a:off x="914400" y="3873500"/>
            <a:ext cx="3175000" cy="165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1E5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2593259-FAAF-4330-9AAF-B6128CEB115D}"/>
              </a:ext>
            </a:extLst>
          </p:cNvPr>
          <p:cNvSpPr/>
          <p:nvPr/>
        </p:nvSpPr>
        <p:spPr>
          <a:xfrm>
            <a:off x="1117600" y="4076700"/>
            <a:ext cx="457200" cy="457200"/>
          </a:xfrm>
          <a:prstGeom prst="ellipse">
            <a:avLst/>
          </a:prstGeom>
          <a:solidFill>
            <a:srgbClr val="0D7C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351D3F-BEA1-4F82-95D3-2EDFB9FBC147}"/>
              </a:ext>
            </a:extLst>
          </p:cNvPr>
          <p:cNvSpPr txBox="1"/>
          <p:nvPr/>
        </p:nvSpPr>
        <p:spPr>
          <a:xfrm>
            <a:off x="1117600" y="4635500"/>
            <a:ext cx="279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1B2A4A"/>
                </a:solidFill>
              </a:rPr>
              <a:t>Risk score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F387B2-DB0D-40FB-96C7-DB01F894CDD9}"/>
              </a:ext>
            </a:extLst>
          </p:cNvPr>
          <p:cNvSpPr txBox="1"/>
          <p:nvPr/>
        </p:nvSpPr>
        <p:spPr>
          <a:xfrm>
            <a:off x="1117600" y="4965700"/>
            <a:ext cx="279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2C3E6B"/>
                </a:solidFill>
              </a:rPr>
              <a:t>Signals combined into one score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465C83-6937-4B9F-B8D7-08E21DAE0F9D}"/>
              </a:ext>
            </a:extLst>
          </p:cNvPr>
          <p:cNvSpPr/>
          <p:nvPr/>
        </p:nvSpPr>
        <p:spPr>
          <a:xfrm>
            <a:off x="4445000" y="3873500"/>
            <a:ext cx="3175000" cy="165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1E5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E6E876F-2145-4C8F-B524-93B098BF7B5C}"/>
              </a:ext>
            </a:extLst>
          </p:cNvPr>
          <p:cNvSpPr/>
          <p:nvPr/>
        </p:nvSpPr>
        <p:spPr>
          <a:xfrm>
            <a:off x="4648200" y="4076700"/>
            <a:ext cx="457200" cy="457200"/>
          </a:xfrm>
          <a:prstGeom prst="ellipse">
            <a:avLst/>
          </a:prstGeom>
          <a:solidFill>
            <a:srgbClr val="0D7C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18DC5B-CBD2-4856-A6A4-1EBF40129B42}"/>
              </a:ext>
            </a:extLst>
          </p:cNvPr>
          <p:cNvSpPr txBox="1"/>
          <p:nvPr/>
        </p:nvSpPr>
        <p:spPr>
          <a:xfrm>
            <a:off x="4648200" y="4635500"/>
            <a:ext cx="279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1B2A4A"/>
                </a:solidFill>
              </a:rPr>
              <a:t>Decision-ready view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560980-0DDA-4E43-BC28-9AA06F0268FC}"/>
              </a:ext>
            </a:extLst>
          </p:cNvPr>
          <p:cNvSpPr txBox="1"/>
          <p:nvPr/>
        </p:nvSpPr>
        <p:spPr>
          <a:xfrm>
            <a:off x="4648200" y="4965700"/>
            <a:ext cx="279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2C3E6B"/>
                </a:solidFill>
              </a:rPr>
              <a:t>Approver sees what matters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48E6C92-B514-4719-BD0F-63727FF67874}"/>
              </a:ext>
            </a:extLst>
          </p:cNvPr>
          <p:cNvSpPr/>
          <p:nvPr/>
        </p:nvSpPr>
        <p:spPr>
          <a:xfrm>
            <a:off x="7975600" y="3873500"/>
            <a:ext cx="3175000" cy="165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1E5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7F5E205-A4C2-438B-A650-595309DCC546}"/>
              </a:ext>
            </a:extLst>
          </p:cNvPr>
          <p:cNvSpPr/>
          <p:nvPr/>
        </p:nvSpPr>
        <p:spPr>
          <a:xfrm>
            <a:off x="8178800" y="4076700"/>
            <a:ext cx="457200" cy="457200"/>
          </a:xfrm>
          <a:prstGeom prst="ellipse">
            <a:avLst/>
          </a:prstGeom>
          <a:solidFill>
            <a:srgbClr val="0D7C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CE6738-E35D-49BD-9C28-FCF2C726E5F1}"/>
              </a:ext>
            </a:extLst>
          </p:cNvPr>
          <p:cNvSpPr txBox="1"/>
          <p:nvPr/>
        </p:nvSpPr>
        <p:spPr>
          <a:xfrm>
            <a:off x="8178800" y="4635500"/>
            <a:ext cx="279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1B2A4A"/>
                </a:solidFill>
              </a:rPr>
              <a:t>Stored report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5EE726-A8CD-4585-B25F-7A7F250A827B}"/>
              </a:ext>
            </a:extLst>
          </p:cNvPr>
          <p:cNvSpPr txBox="1"/>
          <p:nvPr/>
        </p:nvSpPr>
        <p:spPr>
          <a:xfrm>
            <a:off x="8178800" y="4965700"/>
            <a:ext cx="279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2C3E6B"/>
                </a:solidFill>
              </a:rPr>
              <a:t>Full audit trail kept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079838-FA2E-4027-A00B-47165FA61527}"/>
              </a:ext>
            </a:extLst>
          </p:cNvPr>
          <p:cNvSpPr/>
          <p:nvPr/>
        </p:nvSpPr>
        <p:spPr>
          <a:xfrm>
            <a:off x="914400" y="5842000"/>
            <a:ext cx="10363200" cy="508000"/>
          </a:xfrm>
          <a:prstGeom prst="rect">
            <a:avLst/>
          </a:prstGeom>
          <a:solidFill>
            <a:srgbClr val="1B2A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3441A6-AEFD-4EC2-B723-1BC868E039CB}"/>
              </a:ext>
            </a:extLst>
          </p:cNvPr>
          <p:cNvSpPr txBox="1"/>
          <p:nvPr/>
        </p:nvSpPr>
        <p:spPr>
          <a:xfrm>
            <a:off x="1168400" y="5930900"/>
            <a:ext cx="9855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System highlights what matters</a:t>
            </a:r>
          </a:p>
        </p:txBody>
      </p:sp>
    </p:spTree>
    <p:extLst>
      <p:ext uri="{BB962C8B-B14F-4D97-AF65-F5344CB8AC3E}">
        <p14:creationId xmlns:p14="http://schemas.microsoft.com/office/powerpoint/2010/main" val="2911257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464EC7-380F-41E8-A03A-BAF1DCDB626F}"/>
              </a:ext>
            </a:extLst>
          </p:cNvPr>
          <p:cNvSpPr txBox="1"/>
          <p:nvPr/>
        </p:nvSpPr>
        <p:spPr>
          <a:xfrm>
            <a:off x="914400" y="635000"/>
            <a:ext cx="10363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D7C66"/>
                </a:solidFill>
              </a:rPr>
              <a:t>04  /  ROLES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A0D2BD-7CF4-4B85-AF08-30991108D759}"/>
              </a:ext>
            </a:extLst>
          </p:cNvPr>
          <p:cNvSpPr txBox="1"/>
          <p:nvPr/>
        </p:nvSpPr>
        <p:spPr>
          <a:xfrm>
            <a:off x="914400" y="1016000"/>
            <a:ext cx="10363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B2A4A"/>
                </a:solidFill>
              </a:rPr>
              <a:t>Three roles, three different experiences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31A548-C5AF-4C5E-9A45-30E372D55C81}"/>
              </a:ext>
            </a:extLst>
          </p:cNvPr>
          <p:cNvSpPr/>
          <p:nvPr/>
        </p:nvSpPr>
        <p:spPr>
          <a:xfrm>
            <a:off x="914400" y="2032000"/>
            <a:ext cx="3302000" cy="3556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1E5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98ACEF-8B87-4009-BB33-C1A936A87DFA}"/>
              </a:ext>
            </a:extLst>
          </p:cNvPr>
          <p:cNvSpPr/>
          <p:nvPr/>
        </p:nvSpPr>
        <p:spPr>
          <a:xfrm>
            <a:off x="914400" y="2032000"/>
            <a:ext cx="3302000" cy="889000"/>
          </a:xfrm>
          <a:prstGeom prst="rect">
            <a:avLst/>
          </a:prstGeom>
          <a:solidFill>
            <a:srgbClr val="3A86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95F69E-D73B-4E30-8F15-74418B8241CA}"/>
              </a:ext>
            </a:extLst>
          </p:cNvPr>
          <p:cNvSpPr txBox="1"/>
          <p:nvPr/>
        </p:nvSpPr>
        <p:spPr>
          <a:xfrm>
            <a:off x="1168400" y="2311400"/>
            <a:ext cx="279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Claimant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D8C6A2-EAB5-4CF8-AD69-EFA72C81398E}"/>
              </a:ext>
            </a:extLst>
          </p:cNvPr>
          <p:cNvSpPr txBox="1"/>
          <p:nvPr/>
        </p:nvSpPr>
        <p:spPr>
          <a:xfrm>
            <a:off x="1168400" y="3238500"/>
            <a:ext cx="279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3A86C4"/>
                </a:solidFill>
              </a:rPr>
              <a:t>Submits &amp; tracks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03CFB1-009E-4A98-B4FB-14655E23997F}"/>
              </a:ext>
            </a:extLst>
          </p:cNvPr>
          <p:cNvSpPr/>
          <p:nvPr/>
        </p:nvSpPr>
        <p:spPr>
          <a:xfrm>
            <a:off x="1168400" y="3619500"/>
            <a:ext cx="508000" cy="25400"/>
          </a:xfrm>
          <a:prstGeom prst="rect">
            <a:avLst/>
          </a:prstGeom>
          <a:solidFill>
            <a:srgbClr val="D5DA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13B356-F0CB-40DB-942A-1EFAC615D0B7}"/>
              </a:ext>
            </a:extLst>
          </p:cNvPr>
          <p:cNvSpPr txBox="1"/>
          <p:nvPr/>
        </p:nvSpPr>
        <p:spPr>
          <a:xfrm>
            <a:off x="1168400" y="3810000"/>
            <a:ext cx="2794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C3E6B"/>
                </a:solidFill>
              </a:rPr>
              <a:t>Uploads claim form and supporting documents. Tracks status until decision.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67C3BB-01D6-446F-94BC-DEAE9CDD1155}"/>
              </a:ext>
            </a:extLst>
          </p:cNvPr>
          <p:cNvSpPr/>
          <p:nvPr/>
        </p:nvSpPr>
        <p:spPr>
          <a:xfrm>
            <a:off x="4445000" y="2032000"/>
            <a:ext cx="3302000" cy="3556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1E5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CAC8E6-419F-4CF4-ABE7-12D8A8281248}"/>
              </a:ext>
            </a:extLst>
          </p:cNvPr>
          <p:cNvSpPr/>
          <p:nvPr/>
        </p:nvSpPr>
        <p:spPr>
          <a:xfrm>
            <a:off x="4445000" y="2032000"/>
            <a:ext cx="3302000" cy="889000"/>
          </a:xfrm>
          <a:prstGeom prst="rect">
            <a:avLst/>
          </a:prstGeom>
          <a:solidFill>
            <a:srgbClr val="0D7C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CDEA5B-1353-44FB-AF9D-9D91713C4F21}"/>
              </a:ext>
            </a:extLst>
          </p:cNvPr>
          <p:cNvSpPr txBox="1"/>
          <p:nvPr/>
        </p:nvSpPr>
        <p:spPr>
          <a:xfrm>
            <a:off x="4699000" y="2311400"/>
            <a:ext cx="279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Approver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3F5EFB-1FA3-4D3B-AD30-516732BFC889}"/>
              </a:ext>
            </a:extLst>
          </p:cNvPr>
          <p:cNvSpPr txBox="1"/>
          <p:nvPr/>
        </p:nvSpPr>
        <p:spPr>
          <a:xfrm>
            <a:off x="4699000" y="3238500"/>
            <a:ext cx="279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0D7C66"/>
                </a:solidFill>
              </a:rPr>
              <a:t>Reviews &amp; decides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E6D272-CD25-4AE3-8705-1CACA68825FC}"/>
              </a:ext>
            </a:extLst>
          </p:cNvPr>
          <p:cNvSpPr/>
          <p:nvPr/>
        </p:nvSpPr>
        <p:spPr>
          <a:xfrm>
            <a:off x="4699000" y="3619500"/>
            <a:ext cx="508000" cy="25400"/>
          </a:xfrm>
          <a:prstGeom prst="rect">
            <a:avLst/>
          </a:prstGeom>
          <a:solidFill>
            <a:srgbClr val="D5DA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A7E89A-92C5-40CD-A5C4-8860C0153520}"/>
              </a:ext>
            </a:extLst>
          </p:cNvPr>
          <p:cNvSpPr txBox="1"/>
          <p:nvPr/>
        </p:nvSpPr>
        <p:spPr>
          <a:xfrm>
            <a:off x="4699000" y="3810000"/>
            <a:ext cx="2794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C3E6B"/>
                </a:solidFill>
              </a:rPr>
              <a:t>Sees extracted data, flagged issues, and risk score. Approves or rejects.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DF5419-6C2B-428E-94C1-FD41A4955A92}"/>
              </a:ext>
            </a:extLst>
          </p:cNvPr>
          <p:cNvSpPr/>
          <p:nvPr/>
        </p:nvSpPr>
        <p:spPr>
          <a:xfrm>
            <a:off x="7975600" y="2032000"/>
            <a:ext cx="3302000" cy="3556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1E5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A08E95-2915-4A2F-B90E-F025DC3863E5}"/>
              </a:ext>
            </a:extLst>
          </p:cNvPr>
          <p:cNvSpPr/>
          <p:nvPr/>
        </p:nvSpPr>
        <p:spPr>
          <a:xfrm>
            <a:off x="7975600" y="2032000"/>
            <a:ext cx="3302000" cy="889000"/>
          </a:xfrm>
          <a:prstGeom prst="rect">
            <a:avLst/>
          </a:prstGeom>
          <a:solidFill>
            <a:srgbClr val="6C5CE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05C2DD-867F-4947-ACC8-138D21D8C98D}"/>
              </a:ext>
            </a:extLst>
          </p:cNvPr>
          <p:cNvSpPr txBox="1"/>
          <p:nvPr/>
        </p:nvSpPr>
        <p:spPr>
          <a:xfrm>
            <a:off x="8229600" y="2311400"/>
            <a:ext cx="279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B539EA-4E34-4F35-8283-38DA727A7830}"/>
              </a:ext>
            </a:extLst>
          </p:cNvPr>
          <p:cNvSpPr txBox="1"/>
          <p:nvPr/>
        </p:nvSpPr>
        <p:spPr>
          <a:xfrm>
            <a:off x="8229600" y="3238500"/>
            <a:ext cx="279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6C5CE7"/>
                </a:solidFill>
              </a:rPr>
              <a:t>Monitors &amp; assigns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53F21F-A248-45CE-A148-5678BD2F5562}"/>
              </a:ext>
            </a:extLst>
          </p:cNvPr>
          <p:cNvSpPr/>
          <p:nvPr/>
        </p:nvSpPr>
        <p:spPr>
          <a:xfrm>
            <a:off x="8229600" y="3619500"/>
            <a:ext cx="508000" cy="25400"/>
          </a:xfrm>
          <a:prstGeom prst="rect">
            <a:avLst/>
          </a:prstGeom>
          <a:solidFill>
            <a:srgbClr val="D5DA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11A41D-2D43-4199-917F-7DC7D61FD3A8}"/>
              </a:ext>
            </a:extLst>
          </p:cNvPr>
          <p:cNvSpPr txBox="1"/>
          <p:nvPr/>
        </p:nvSpPr>
        <p:spPr>
          <a:xfrm>
            <a:off x="8229600" y="3810000"/>
            <a:ext cx="2794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C3E6B"/>
                </a:solidFill>
              </a:rPr>
              <a:t>Manages users, assigns claims to approvers, monitors throughput.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D9066A-9E80-4DC4-8DA6-BADFC1B24AAB}"/>
              </a:ext>
            </a:extLst>
          </p:cNvPr>
          <p:cNvSpPr txBox="1"/>
          <p:nvPr/>
        </p:nvSpPr>
        <p:spPr>
          <a:xfrm>
            <a:off x="914400" y="5969000"/>
            <a:ext cx="10363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0D7C66"/>
                </a:solidFill>
              </a:rPr>
              <a:t>Different UX per role — each sees only what they need</a:t>
            </a:r>
          </a:p>
        </p:txBody>
      </p:sp>
    </p:spTree>
    <p:extLst>
      <p:ext uri="{BB962C8B-B14F-4D97-AF65-F5344CB8AC3E}">
        <p14:creationId xmlns:p14="http://schemas.microsoft.com/office/powerpoint/2010/main" val="3634691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B43BCA-E87A-4032-859A-3818A2EFBE02}"/>
              </a:ext>
            </a:extLst>
          </p:cNvPr>
          <p:cNvSpPr txBox="1"/>
          <p:nvPr/>
        </p:nvSpPr>
        <p:spPr>
          <a:xfrm>
            <a:off x="914400" y="635000"/>
            <a:ext cx="10363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D7C66"/>
                </a:solidFill>
              </a:rPr>
              <a:t>05  / 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5BBB62-1042-4314-95B1-E6B8C0C58DF2}"/>
              </a:ext>
            </a:extLst>
          </p:cNvPr>
          <p:cNvSpPr txBox="1"/>
          <p:nvPr/>
        </p:nvSpPr>
        <p:spPr>
          <a:xfrm>
            <a:off x="914400" y="1016000"/>
            <a:ext cx="10363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B2A4A"/>
                </a:solidFill>
              </a:rPr>
              <a:t>Clean layered 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683624-3D16-4F1D-A751-58C10A1B1F14}"/>
              </a:ext>
            </a:extLst>
          </p:cNvPr>
          <p:cNvSpPr/>
          <p:nvPr/>
        </p:nvSpPr>
        <p:spPr>
          <a:xfrm>
            <a:off x="1333500" y="1841500"/>
            <a:ext cx="1651000" cy="952500"/>
          </a:xfrm>
          <a:prstGeom prst="rect">
            <a:avLst/>
          </a:prstGeom>
          <a:solidFill>
            <a:srgbClr val="3A86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OCR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0927C7-3BB6-4C9F-8766-9BCBDF0E4868}"/>
              </a:ext>
            </a:extLst>
          </p:cNvPr>
          <p:cNvSpPr txBox="1"/>
          <p:nvPr/>
        </p:nvSpPr>
        <p:spPr>
          <a:xfrm>
            <a:off x="1333500" y="28448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2C3E6B"/>
                </a:solidFill>
              </a:rPr>
              <a:t>Document text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D308BA6-A9A1-4B06-97C4-02BDED62D281}"/>
              </a:ext>
            </a:extLst>
          </p:cNvPr>
          <p:cNvSpPr/>
          <p:nvPr/>
        </p:nvSpPr>
        <p:spPr>
          <a:xfrm>
            <a:off x="3009900" y="2216150"/>
            <a:ext cx="266700" cy="203200"/>
          </a:xfrm>
          <a:prstGeom prst="rightArrow">
            <a:avLst/>
          </a:prstGeom>
          <a:solidFill>
            <a:srgbClr val="0D7C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974D9F-90B3-470A-997F-77DFCA07A068}"/>
              </a:ext>
            </a:extLst>
          </p:cNvPr>
          <p:cNvSpPr/>
          <p:nvPr/>
        </p:nvSpPr>
        <p:spPr>
          <a:xfrm>
            <a:off x="3302000" y="1841500"/>
            <a:ext cx="1651000" cy="952500"/>
          </a:xfrm>
          <a:prstGeom prst="rect">
            <a:avLst/>
          </a:prstGeom>
          <a:solidFill>
            <a:srgbClr val="5B9BD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Extraction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27A69B-EF5F-4CD0-B216-BD9744DF965C}"/>
              </a:ext>
            </a:extLst>
          </p:cNvPr>
          <p:cNvSpPr txBox="1"/>
          <p:nvPr/>
        </p:nvSpPr>
        <p:spPr>
          <a:xfrm>
            <a:off x="3302000" y="28448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2C3E6B"/>
                </a:solidFill>
              </a:rPr>
              <a:t>Structured fields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B1ED8678-1DBF-4C2D-B250-40DE12DB5012}"/>
              </a:ext>
            </a:extLst>
          </p:cNvPr>
          <p:cNvSpPr/>
          <p:nvPr/>
        </p:nvSpPr>
        <p:spPr>
          <a:xfrm>
            <a:off x="4978400" y="2216150"/>
            <a:ext cx="266700" cy="203200"/>
          </a:xfrm>
          <a:prstGeom prst="rightArrow">
            <a:avLst/>
          </a:prstGeom>
          <a:solidFill>
            <a:srgbClr val="0D7C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BB418F-53FA-4F71-984C-77BA2083FB72}"/>
              </a:ext>
            </a:extLst>
          </p:cNvPr>
          <p:cNvSpPr/>
          <p:nvPr/>
        </p:nvSpPr>
        <p:spPr>
          <a:xfrm>
            <a:off x="5270500" y="1841500"/>
            <a:ext cx="1651000" cy="952500"/>
          </a:xfrm>
          <a:prstGeom prst="rect">
            <a:avLst/>
          </a:prstGeom>
          <a:solidFill>
            <a:srgbClr val="0D7C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Policy check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347C62-2C0D-411D-B181-8F2AD75B2D5E}"/>
              </a:ext>
            </a:extLst>
          </p:cNvPr>
          <p:cNvSpPr txBox="1"/>
          <p:nvPr/>
        </p:nvSpPr>
        <p:spPr>
          <a:xfrm>
            <a:off x="5270500" y="28448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2C3E6B"/>
                </a:solidFill>
              </a:rPr>
              <a:t>RAG compliance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226DEE7D-C276-4412-AC0F-4202699ABBF4}"/>
              </a:ext>
            </a:extLst>
          </p:cNvPr>
          <p:cNvSpPr/>
          <p:nvPr/>
        </p:nvSpPr>
        <p:spPr>
          <a:xfrm>
            <a:off x="6946900" y="2216150"/>
            <a:ext cx="266700" cy="203200"/>
          </a:xfrm>
          <a:prstGeom prst="rightArrow">
            <a:avLst/>
          </a:prstGeom>
          <a:solidFill>
            <a:srgbClr val="0D7C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0BD4EC-4070-4992-8ABE-046F4A0E3A96}"/>
              </a:ext>
            </a:extLst>
          </p:cNvPr>
          <p:cNvSpPr/>
          <p:nvPr/>
        </p:nvSpPr>
        <p:spPr>
          <a:xfrm>
            <a:off x="7239000" y="1841500"/>
            <a:ext cx="1651000" cy="952500"/>
          </a:xfrm>
          <a:prstGeom prst="rect">
            <a:avLst/>
          </a:prstGeom>
          <a:solidFill>
            <a:srgbClr val="6C5CE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D5A4B5-3013-4A6F-BE83-44628244711C}"/>
              </a:ext>
            </a:extLst>
          </p:cNvPr>
          <p:cNvSpPr txBox="1"/>
          <p:nvPr/>
        </p:nvSpPr>
        <p:spPr>
          <a:xfrm>
            <a:off x="7239000" y="28448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2C3E6B"/>
                </a:solidFill>
              </a:rPr>
              <a:t>ICD/CPT codes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C4A5C2A-CF33-44FE-9007-2ECAB842BD8C}"/>
              </a:ext>
            </a:extLst>
          </p:cNvPr>
          <p:cNvSpPr/>
          <p:nvPr/>
        </p:nvSpPr>
        <p:spPr>
          <a:xfrm>
            <a:off x="8915400" y="2216150"/>
            <a:ext cx="266700" cy="203200"/>
          </a:xfrm>
          <a:prstGeom prst="rightArrow">
            <a:avLst/>
          </a:prstGeom>
          <a:solidFill>
            <a:srgbClr val="0D7C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6FC986-C547-4B4E-9F25-55CDFF6B0885}"/>
              </a:ext>
            </a:extLst>
          </p:cNvPr>
          <p:cNvSpPr/>
          <p:nvPr/>
        </p:nvSpPr>
        <p:spPr>
          <a:xfrm>
            <a:off x="9207500" y="1841500"/>
            <a:ext cx="1651000" cy="952500"/>
          </a:xfrm>
          <a:prstGeom prst="rect">
            <a:avLst/>
          </a:prstGeom>
          <a:solidFill>
            <a:srgbClr val="1B2A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Fraud scoring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98C5A5-E7A9-4479-B136-F12CD4D32C69}"/>
              </a:ext>
            </a:extLst>
          </p:cNvPr>
          <p:cNvSpPr txBox="1"/>
          <p:nvPr/>
        </p:nvSpPr>
        <p:spPr>
          <a:xfrm>
            <a:off x="9207500" y="28448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2C3E6B"/>
                </a:solidFill>
              </a:rPr>
              <a:t>Risk signals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4A2633-7564-4840-A8D6-CA8ECD70A911}"/>
              </a:ext>
            </a:extLst>
          </p:cNvPr>
          <p:cNvSpPr txBox="1"/>
          <p:nvPr/>
        </p:nvSpPr>
        <p:spPr>
          <a:xfrm>
            <a:off x="914400" y="3429000"/>
            <a:ext cx="10363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D7C66"/>
                </a:solidFill>
              </a:rPr>
              <a:t>Pipeline stages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6F842F-60EC-40D8-AE61-0F415B0DA286}"/>
              </a:ext>
            </a:extLst>
          </p:cNvPr>
          <p:cNvSpPr/>
          <p:nvPr/>
        </p:nvSpPr>
        <p:spPr>
          <a:xfrm>
            <a:off x="558800" y="3873500"/>
            <a:ext cx="2133600" cy="1397000"/>
          </a:xfrm>
          <a:prstGeom prst="rect">
            <a:avLst/>
          </a:prstGeom>
          <a:solidFill>
            <a:srgbClr val="F0F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6E2C2F-14DC-461F-8A48-709226951E9D}"/>
              </a:ext>
            </a:extLst>
          </p:cNvPr>
          <p:cNvSpPr/>
          <p:nvPr/>
        </p:nvSpPr>
        <p:spPr>
          <a:xfrm>
            <a:off x="558800" y="3873500"/>
            <a:ext cx="2133600" cy="50800"/>
          </a:xfrm>
          <a:prstGeom prst="rect">
            <a:avLst/>
          </a:prstGeom>
          <a:solidFill>
            <a:srgbClr val="0D7C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92C934-02D3-4CD1-BF4F-FE9DD4AC0A4C}"/>
              </a:ext>
            </a:extLst>
          </p:cNvPr>
          <p:cNvSpPr txBox="1"/>
          <p:nvPr/>
        </p:nvSpPr>
        <p:spPr>
          <a:xfrm>
            <a:off x="711200" y="4102100"/>
            <a:ext cx="1828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B2A4A"/>
                </a:solidFill>
              </a:rPr>
              <a:t>OCR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46076D-8783-4966-9EAF-9E6B9E4FE6CD}"/>
              </a:ext>
            </a:extLst>
          </p:cNvPr>
          <p:cNvSpPr txBox="1"/>
          <p:nvPr/>
        </p:nvSpPr>
        <p:spPr>
          <a:xfrm>
            <a:off x="711200" y="4483100"/>
            <a:ext cx="1828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2C3E6B"/>
                </a:solidFill>
              </a:rPr>
              <a:t>Convert documents to text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24CFFE-1C0F-4D6C-B442-A289C886A9F9}"/>
              </a:ext>
            </a:extLst>
          </p:cNvPr>
          <p:cNvSpPr/>
          <p:nvPr/>
        </p:nvSpPr>
        <p:spPr>
          <a:xfrm>
            <a:off x="2794000" y="3873500"/>
            <a:ext cx="2133600" cy="1397000"/>
          </a:xfrm>
          <a:prstGeom prst="rect">
            <a:avLst/>
          </a:prstGeom>
          <a:solidFill>
            <a:srgbClr val="F0F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3DE74E-9FC1-4B40-9687-644CDA73B519}"/>
              </a:ext>
            </a:extLst>
          </p:cNvPr>
          <p:cNvSpPr/>
          <p:nvPr/>
        </p:nvSpPr>
        <p:spPr>
          <a:xfrm>
            <a:off x="2794000" y="3873500"/>
            <a:ext cx="2133600" cy="50800"/>
          </a:xfrm>
          <a:prstGeom prst="rect">
            <a:avLst/>
          </a:prstGeom>
          <a:solidFill>
            <a:srgbClr val="0D7C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BBF07A-0673-455B-A54B-1C0416FA94C5}"/>
              </a:ext>
            </a:extLst>
          </p:cNvPr>
          <p:cNvSpPr txBox="1"/>
          <p:nvPr/>
        </p:nvSpPr>
        <p:spPr>
          <a:xfrm>
            <a:off x="2946400" y="4102100"/>
            <a:ext cx="1828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B2A4A"/>
                </a:solidFill>
              </a:rPr>
              <a:t>Extraction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C6774B-E4C0-45AF-AB4C-0216EC76D1DB}"/>
              </a:ext>
            </a:extLst>
          </p:cNvPr>
          <p:cNvSpPr txBox="1"/>
          <p:nvPr/>
        </p:nvSpPr>
        <p:spPr>
          <a:xfrm>
            <a:off x="2946400" y="4483100"/>
            <a:ext cx="1828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2C3E6B"/>
                </a:solidFill>
              </a:rPr>
              <a:t>Pull structured fields out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3A0F8F4-26C8-4CB4-8B48-9653BEEABD33}"/>
              </a:ext>
            </a:extLst>
          </p:cNvPr>
          <p:cNvSpPr/>
          <p:nvPr/>
        </p:nvSpPr>
        <p:spPr>
          <a:xfrm>
            <a:off x="5029200" y="3873500"/>
            <a:ext cx="2133600" cy="1397000"/>
          </a:xfrm>
          <a:prstGeom prst="rect">
            <a:avLst/>
          </a:prstGeom>
          <a:solidFill>
            <a:srgbClr val="F0F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4E064D-70C0-4030-AA7E-0E87F1C71DAE}"/>
              </a:ext>
            </a:extLst>
          </p:cNvPr>
          <p:cNvSpPr/>
          <p:nvPr/>
        </p:nvSpPr>
        <p:spPr>
          <a:xfrm>
            <a:off x="5029200" y="3873500"/>
            <a:ext cx="2133600" cy="50800"/>
          </a:xfrm>
          <a:prstGeom prst="rect">
            <a:avLst/>
          </a:prstGeom>
          <a:solidFill>
            <a:srgbClr val="0D7C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0CFA99-78CD-4748-A194-0F092EDE0864}"/>
              </a:ext>
            </a:extLst>
          </p:cNvPr>
          <p:cNvSpPr txBox="1"/>
          <p:nvPr/>
        </p:nvSpPr>
        <p:spPr>
          <a:xfrm>
            <a:off x="5181600" y="4102100"/>
            <a:ext cx="1828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B2A4A"/>
                </a:solidFill>
              </a:rPr>
              <a:t>Policy check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259A17-FC45-47B2-83D9-7D0C96836EBB}"/>
              </a:ext>
            </a:extLst>
          </p:cNvPr>
          <p:cNvSpPr txBox="1"/>
          <p:nvPr/>
        </p:nvSpPr>
        <p:spPr>
          <a:xfrm>
            <a:off x="5181600" y="4483100"/>
            <a:ext cx="1828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2C3E6B"/>
                </a:solidFill>
              </a:rPr>
              <a:t>Match against policy rules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BBBA78C-0CDD-4677-9404-A097FE692EB2}"/>
              </a:ext>
            </a:extLst>
          </p:cNvPr>
          <p:cNvSpPr/>
          <p:nvPr/>
        </p:nvSpPr>
        <p:spPr>
          <a:xfrm>
            <a:off x="7264400" y="3873500"/>
            <a:ext cx="2133600" cy="1397000"/>
          </a:xfrm>
          <a:prstGeom prst="rect">
            <a:avLst/>
          </a:prstGeom>
          <a:solidFill>
            <a:srgbClr val="F0F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D3D6EC7-C03E-459D-B5E3-FBD7F0594FC0}"/>
              </a:ext>
            </a:extLst>
          </p:cNvPr>
          <p:cNvSpPr/>
          <p:nvPr/>
        </p:nvSpPr>
        <p:spPr>
          <a:xfrm>
            <a:off x="7264400" y="3873500"/>
            <a:ext cx="2133600" cy="50800"/>
          </a:xfrm>
          <a:prstGeom prst="rect">
            <a:avLst/>
          </a:prstGeom>
          <a:solidFill>
            <a:srgbClr val="0D7C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CDC297-238C-46F7-9B6F-DF1820C4942E}"/>
              </a:ext>
            </a:extLst>
          </p:cNvPr>
          <p:cNvSpPr txBox="1"/>
          <p:nvPr/>
        </p:nvSpPr>
        <p:spPr>
          <a:xfrm>
            <a:off x="7416800" y="4102100"/>
            <a:ext cx="1828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B2A4A"/>
                </a:solidFill>
              </a:rPr>
              <a:t>Validation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29371AE-92E1-4FA6-ACF9-35B7A1FF26CA}"/>
              </a:ext>
            </a:extLst>
          </p:cNvPr>
          <p:cNvSpPr txBox="1"/>
          <p:nvPr/>
        </p:nvSpPr>
        <p:spPr>
          <a:xfrm>
            <a:off x="7416800" y="4483100"/>
            <a:ext cx="1828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2C3E6B"/>
                </a:solidFill>
              </a:rPr>
              <a:t>Verify ICD/CPT codes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910B65E-748E-4F07-ACF8-671BA9A65EED}"/>
              </a:ext>
            </a:extLst>
          </p:cNvPr>
          <p:cNvSpPr/>
          <p:nvPr/>
        </p:nvSpPr>
        <p:spPr>
          <a:xfrm>
            <a:off x="9499600" y="3873500"/>
            <a:ext cx="2133600" cy="1397000"/>
          </a:xfrm>
          <a:prstGeom prst="rect">
            <a:avLst/>
          </a:prstGeom>
          <a:solidFill>
            <a:srgbClr val="F0F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02B4956-D352-4B9B-963F-16BFFEE9C9BE}"/>
              </a:ext>
            </a:extLst>
          </p:cNvPr>
          <p:cNvSpPr/>
          <p:nvPr/>
        </p:nvSpPr>
        <p:spPr>
          <a:xfrm>
            <a:off x="9499600" y="3873500"/>
            <a:ext cx="2133600" cy="50800"/>
          </a:xfrm>
          <a:prstGeom prst="rect">
            <a:avLst/>
          </a:prstGeom>
          <a:solidFill>
            <a:srgbClr val="0D7C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1C86D1-0893-4CCC-B7B4-9DCF809B9DC6}"/>
              </a:ext>
            </a:extLst>
          </p:cNvPr>
          <p:cNvSpPr txBox="1"/>
          <p:nvPr/>
        </p:nvSpPr>
        <p:spPr>
          <a:xfrm>
            <a:off x="9652000" y="4102100"/>
            <a:ext cx="1828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B2A4A"/>
                </a:solidFill>
              </a:rPr>
              <a:t>Fraud scoring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F7AC47-2A0B-42DF-90F3-E2AE1456616B}"/>
              </a:ext>
            </a:extLst>
          </p:cNvPr>
          <p:cNvSpPr txBox="1"/>
          <p:nvPr/>
        </p:nvSpPr>
        <p:spPr>
          <a:xfrm>
            <a:off x="9652000" y="4483100"/>
            <a:ext cx="1828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2C3E6B"/>
                </a:solidFill>
              </a:rPr>
              <a:t>Combine signals into score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972443-64B8-47A3-8C19-54F478E067BA}"/>
              </a:ext>
            </a:extLst>
          </p:cNvPr>
          <p:cNvSpPr txBox="1"/>
          <p:nvPr/>
        </p:nvSpPr>
        <p:spPr>
          <a:xfrm>
            <a:off x="914400" y="5524500"/>
            <a:ext cx="10363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1300" i="1" dirty="0">
                <a:solidFill>
                  <a:srgbClr val="7A8499"/>
                </a:solidFill>
              </a:rPr>
              <a:t>Linear pipeline — each stage adds signal</a:t>
            </a:r>
          </a:p>
        </p:txBody>
      </p:sp>
    </p:spTree>
    <p:extLst>
      <p:ext uri="{BB962C8B-B14F-4D97-AF65-F5344CB8AC3E}">
        <p14:creationId xmlns:p14="http://schemas.microsoft.com/office/powerpoint/2010/main" val="300819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BE8048-E6F4-4E3D-9FD5-3B35DB40AB1E}"/>
              </a:ext>
            </a:extLst>
          </p:cNvPr>
          <p:cNvSpPr txBox="1"/>
          <p:nvPr/>
        </p:nvSpPr>
        <p:spPr>
          <a:xfrm>
            <a:off x="914400" y="635000"/>
            <a:ext cx="10363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D7C66"/>
                </a:solidFill>
              </a:rPr>
              <a:t>06  /  DATA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E4384C-4CD6-41B9-9BD0-EBF1A530B59F}"/>
              </a:ext>
            </a:extLst>
          </p:cNvPr>
          <p:cNvSpPr txBox="1"/>
          <p:nvPr/>
        </p:nvSpPr>
        <p:spPr>
          <a:xfrm>
            <a:off x="914400" y="1016000"/>
            <a:ext cx="10363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B2A4A"/>
                </a:solidFill>
              </a:rPr>
              <a:t>Step-by-step, linear 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2F83E2-6AE9-476D-8D4F-A48F45CAEB81}"/>
              </a:ext>
            </a:extLst>
          </p:cNvPr>
          <p:cNvSpPr/>
          <p:nvPr/>
        </p:nvSpPr>
        <p:spPr>
          <a:xfrm>
            <a:off x="1638300" y="2108200"/>
            <a:ext cx="25400" cy="3429000"/>
          </a:xfrm>
          <a:prstGeom prst="rect">
            <a:avLst/>
          </a:prstGeom>
          <a:solidFill>
            <a:srgbClr val="0D7C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2478738-285A-4DFF-91F0-6DB13F31D143}"/>
              </a:ext>
            </a:extLst>
          </p:cNvPr>
          <p:cNvSpPr/>
          <p:nvPr/>
        </p:nvSpPr>
        <p:spPr>
          <a:xfrm>
            <a:off x="1447800" y="1917700"/>
            <a:ext cx="406400" cy="406400"/>
          </a:xfrm>
          <a:prstGeom prst="ellipse">
            <a:avLst/>
          </a:prstGeom>
          <a:solidFill>
            <a:srgbClr val="0D7C66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D70A90-6707-4540-BFA7-A20291A3DED2}"/>
              </a:ext>
            </a:extLst>
          </p:cNvPr>
          <p:cNvSpPr txBox="1"/>
          <p:nvPr/>
        </p:nvSpPr>
        <p:spPr>
          <a:xfrm>
            <a:off x="2006600" y="19558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1B2A4A"/>
                </a:solidFill>
              </a:rPr>
              <a:t>Claim submitted by claimant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F4EDC85-6EB1-4A67-856B-84CAB102F22E}"/>
              </a:ext>
            </a:extLst>
          </p:cNvPr>
          <p:cNvSpPr/>
          <p:nvPr/>
        </p:nvSpPr>
        <p:spPr>
          <a:xfrm>
            <a:off x="1447800" y="2489200"/>
            <a:ext cx="406400" cy="406400"/>
          </a:xfrm>
          <a:prstGeom prst="ellipse">
            <a:avLst/>
          </a:prstGeom>
          <a:solidFill>
            <a:srgbClr val="0D7C66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1F5B0E-4CB0-44ED-9D01-67F8DCD4508E}"/>
              </a:ext>
            </a:extLst>
          </p:cNvPr>
          <p:cNvSpPr txBox="1"/>
          <p:nvPr/>
        </p:nvSpPr>
        <p:spPr>
          <a:xfrm>
            <a:off x="2006600" y="25273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700" dirty="0">
                <a:solidFill>
                  <a:srgbClr val="1B2A4A"/>
                </a:solidFill>
              </a:rPr>
              <a:t>Documents uploaded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6C597B4-02AF-4B94-9BB6-4EA358AA1540}"/>
              </a:ext>
            </a:extLst>
          </p:cNvPr>
          <p:cNvSpPr/>
          <p:nvPr/>
        </p:nvSpPr>
        <p:spPr>
          <a:xfrm>
            <a:off x="1447800" y="3060700"/>
            <a:ext cx="406400" cy="406400"/>
          </a:xfrm>
          <a:prstGeom prst="ellipse">
            <a:avLst/>
          </a:prstGeom>
          <a:solidFill>
            <a:srgbClr val="0D7C66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A98F23-93DC-4BD1-BD2A-4C5619B1AA5E}"/>
              </a:ext>
            </a:extLst>
          </p:cNvPr>
          <p:cNvSpPr txBox="1"/>
          <p:nvPr/>
        </p:nvSpPr>
        <p:spPr>
          <a:xfrm>
            <a:off x="2006600" y="30988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1B2A4A"/>
                </a:solidFill>
              </a:rPr>
              <a:t>AI pipeline runs (5 stages)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84660DD-6E63-4C70-B479-2AF43F568E5F}"/>
              </a:ext>
            </a:extLst>
          </p:cNvPr>
          <p:cNvSpPr/>
          <p:nvPr/>
        </p:nvSpPr>
        <p:spPr>
          <a:xfrm>
            <a:off x="1447800" y="3632200"/>
            <a:ext cx="406400" cy="406400"/>
          </a:xfrm>
          <a:prstGeom prst="ellipse">
            <a:avLst/>
          </a:prstGeom>
          <a:solidFill>
            <a:srgbClr val="0D7C66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D2E511-0B69-4725-94F8-C493DD64699D}"/>
              </a:ext>
            </a:extLst>
          </p:cNvPr>
          <p:cNvSpPr txBox="1"/>
          <p:nvPr/>
        </p:nvSpPr>
        <p:spPr>
          <a:xfrm>
            <a:off x="2006600" y="36703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700" dirty="0">
                <a:solidFill>
                  <a:srgbClr val="1B2A4A"/>
                </a:solidFill>
              </a:rPr>
              <a:t>Stages: OCR → extract → policy → validate → score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A6031E0-4A74-4872-831D-EFFFAA96D11C}"/>
              </a:ext>
            </a:extLst>
          </p:cNvPr>
          <p:cNvSpPr/>
          <p:nvPr/>
        </p:nvSpPr>
        <p:spPr>
          <a:xfrm>
            <a:off x="1447800" y="4203700"/>
            <a:ext cx="406400" cy="406400"/>
          </a:xfrm>
          <a:prstGeom prst="ellipse">
            <a:avLst/>
          </a:prstGeom>
          <a:solidFill>
            <a:srgbClr val="0D7C66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B4DF6E-2847-4601-B07E-546B26200478}"/>
              </a:ext>
            </a:extLst>
          </p:cNvPr>
          <p:cNvSpPr txBox="1"/>
          <p:nvPr/>
        </p:nvSpPr>
        <p:spPr>
          <a:xfrm>
            <a:off x="2006600" y="42418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700" dirty="0">
                <a:solidFill>
                  <a:srgbClr val="1B2A4A"/>
                </a:solidFill>
              </a:rPr>
              <a:t>Issues generated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41B815E-0257-4F10-9CA0-BBF894722B2D}"/>
              </a:ext>
            </a:extLst>
          </p:cNvPr>
          <p:cNvSpPr/>
          <p:nvPr/>
        </p:nvSpPr>
        <p:spPr>
          <a:xfrm>
            <a:off x="1447800" y="4775200"/>
            <a:ext cx="406400" cy="406400"/>
          </a:xfrm>
          <a:prstGeom prst="ellipse">
            <a:avLst/>
          </a:prstGeom>
          <a:solidFill>
            <a:srgbClr val="0D7C66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3F7D70-0C4D-4960-A630-B8DFE8CE595F}"/>
              </a:ext>
            </a:extLst>
          </p:cNvPr>
          <p:cNvSpPr txBox="1"/>
          <p:nvPr/>
        </p:nvSpPr>
        <p:spPr>
          <a:xfrm>
            <a:off x="2006600" y="48133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700" dirty="0">
                <a:solidFill>
                  <a:srgbClr val="1B2A4A"/>
                </a:solidFill>
              </a:rPr>
              <a:t>Risk score computed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8F2AD29-78C6-43E1-AF09-EF6B44796479}"/>
              </a:ext>
            </a:extLst>
          </p:cNvPr>
          <p:cNvSpPr/>
          <p:nvPr/>
        </p:nvSpPr>
        <p:spPr>
          <a:xfrm>
            <a:off x="1447800" y="5346700"/>
            <a:ext cx="406400" cy="406400"/>
          </a:xfrm>
          <a:prstGeom prst="ellipse">
            <a:avLst/>
          </a:prstGeom>
          <a:solidFill>
            <a:srgbClr val="0D7C66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36040D-38AD-46A4-B8CD-3A096B4C8071}"/>
              </a:ext>
            </a:extLst>
          </p:cNvPr>
          <p:cNvSpPr txBox="1"/>
          <p:nvPr/>
        </p:nvSpPr>
        <p:spPr>
          <a:xfrm>
            <a:off x="2006600" y="53848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1B2A4A"/>
                </a:solidFill>
              </a:rPr>
              <a:t>Sent to approver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EBB28B-C0F7-49DD-AC31-E4951D26BBAB}"/>
              </a:ext>
            </a:extLst>
          </p:cNvPr>
          <p:cNvSpPr/>
          <p:nvPr/>
        </p:nvSpPr>
        <p:spPr>
          <a:xfrm>
            <a:off x="914400" y="6096000"/>
            <a:ext cx="10363200" cy="457200"/>
          </a:xfrm>
          <a:prstGeom prst="rect">
            <a:avLst/>
          </a:prstGeom>
          <a:solidFill>
            <a:srgbClr val="F0F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7A8EB6-EA13-4D2B-B78A-0F8078BE4E23}"/>
              </a:ext>
            </a:extLst>
          </p:cNvPr>
          <p:cNvSpPr txBox="1"/>
          <p:nvPr/>
        </p:nvSpPr>
        <p:spPr>
          <a:xfrm>
            <a:off x="1168400" y="6184900"/>
            <a:ext cx="9855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1400" i="1" dirty="0">
                <a:solidFill>
                  <a:srgbClr val="2C3E6B"/>
                </a:solidFill>
              </a:rPr>
              <a:t>Everything stored in a structured report</a:t>
            </a:r>
          </a:p>
        </p:txBody>
      </p:sp>
    </p:spTree>
    <p:extLst>
      <p:ext uri="{BB962C8B-B14F-4D97-AF65-F5344CB8AC3E}">
        <p14:creationId xmlns:p14="http://schemas.microsoft.com/office/powerpoint/2010/main" val="2362817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D95D91-AB0B-47D0-ADBF-3328F1076B94}"/>
              </a:ext>
            </a:extLst>
          </p:cNvPr>
          <p:cNvSpPr txBox="1"/>
          <p:nvPr/>
        </p:nvSpPr>
        <p:spPr>
          <a:xfrm>
            <a:off x="914400" y="635000"/>
            <a:ext cx="10363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D7C66"/>
                </a:solidFill>
              </a:rPr>
              <a:t>07  /  KEY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45A167-7134-4E6B-9BD8-A4240FEC7A97}"/>
              </a:ext>
            </a:extLst>
          </p:cNvPr>
          <p:cNvSpPr txBox="1"/>
          <p:nvPr/>
        </p:nvSpPr>
        <p:spPr>
          <a:xfrm>
            <a:off x="914400" y="1016000"/>
            <a:ext cx="10363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B2A4A"/>
                </a:solidFill>
              </a:rPr>
              <a:t>What the system does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090BF7-865F-476C-ACE8-2F31B9EF32FB}"/>
              </a:ext>
            </a:extLst>
          </p:cNvPr>
          <p:cNvSpPr/>
          <p:nvPr/>
        </p:nvSpPr>
        <p:spPr>
          <a:xfrm>
            <a:off x="914400" y="1905000"/>
            <a:ext cx="3302000" cy="165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1E5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84FA0E0-7D79-4205-88AB-2B01CD446498}"/>
              </a:ext>
            </a:extLst>
          </p:cNvPr>
          <p:cNvSpPr/>
          <p:nvPr/>
        </p:nvSpPr>
        <p:spPr>
          <a:xfrm>
            <a:off x="1117600" y="2133600"/>
            <a:ext cx="482600" cy="482600"/>
          </a:xfrm>
          <a:prstGeom prst="ellipse">
            <a:avLst/>
          </a:prstGeom>
          <a:solidFill>
            <a:srgbClr val="E6F4F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0D7C66"/>
                </a:solidFill>
              </a:rPr>
              <a:t>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469AFD-0CDF-432D-B372-8894DB4269DF}"/>
              </a:ext>
            </a:extLst>
          </p:cNvPr>
          <p:cNvSpPr txBox="1"/>
          <p:nvPr/>
        </p:nvSpPr>
        <p:spPr>
          <a:xfrm>
            <a:off x="1727200" y="2184400"/>
            <a:ext cx="228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B2A4A"/>
                </a:solidFill>
              </a:rPr>
              <a:t>OCR extraction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2D6464-EB02-4E1A-BEDF-F71106A785A3}"/>
              </a:ext>
            </a:extLst>
          </p:cNvPr>
          <p:cNvSpPr txBox="1"/>
          <p:nvPr/>
        </p:nvSpPr>
        <p:spPr>
          <a:xfrm>
            <a:off x="1727200" y="2565400"/>
            <a:ext cx="228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2C3E6B"/>
                </a:solidFill>
              </a:rPr>
              <a:t>Pull structured data from scanned documents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F85D9F-DF59-4667-A8A6-D708402CFC9D}"/>
              </a:ext>
            </a:extLst>
          </p:cNvPr>
          <p:cNvSpPr/>
          <p:nvPr/>
        </p:nvSpPr>
        <p:spPr>
          <a:xfrm>
            <a:off x="4445000" y="1905000"/>
            <a:ext cx="3302000" cy="165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1E5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EFC4238-407A-4335-9104-065939A9A7DC}"/>
              </a:ext>
            </a:extLst>
          </p:cNvPr>
          <p:cNvSpPr/>
          <p:nvPr/>
        </p:nvSpPr>
        <p:spPr>
          <a:xfrm>
            <a:off x="4648200" y="2133600"/>
            <a:ext cx="482600" cy="482600"/>
          </a:xfrm>
          <a:prstGeom prst="ellipse">
            <a:avLst/>
          </a:prstGeom>
          <a:solidFill>
            <a:srgbClr val="E6F4F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0D7C66"/>
                </a:solidFill>
              </a:rPr>
              <a:t>✓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C62169-717D-4A55-B139-F8D33A98E2AF}"/>
              </a:ext>
            </a:extLst>
          </p:cNvPr>
          <p:cNvSpPr txBox="1"/>
          <p:nvPr/>
        </p:nvSpPr>
        <p:spPr>
          <a:xfrm>
            <a:off x="5257800" y="2184400"/>
            <a:ext cx="228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B2A4A"/>
                </a:solidFill>
              </a:rPr>
              <a:t>Policy compliance (RAG)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5D9938-F57C-4F8A-8303-79276CEDCB9E}"/>
              </a:ext>
            </a:extLst>
          </p:cNvPr>
          <p:cNvSpPr txBox="1"/>
          <p:nvPr/>
        </p:nvSpPr>
        <p:spPr>
          <a:xfrm>
            <a:off x="5257800" y="2565400"/>
            <a:ext cx="228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2C3E6B"/>
                </a:solidFill>
              </a:rPr>
              <a:t>Verify claim against policy via retrieval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CDF31D-B2E0-4AB9-9812-943590BC2536}"/>
              </a:ext>
            </a:extLst>
          </p:cNvPr>
          <p:cNvSpPr/>
          <p:nvPr/>
        </p:nvSpPr>
        <p:spPr>
          <a:xfrm>
            <a:off x="7975600" y="1905000"/>
            <a:ext cx="3302000" cy="165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1E5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2706DBE-A3B8-4153-ABA2-B3622925C134}"/>
              </a:ext>
            </a:extLst>
          </p:cNvPr>
          <p:cNvSpPr/>
          <p:nvPr/>
        </p:nvSpPr>
        <p:spPr>
          <a:xfrm>
            <a:off x="8178800" y="2133600"/>
            <a:ext cx="482600" cy="482600"/>
          </a:xfrm>
          <a:prstGeom prst="ellipse">
            <a:avLst/>
          </a:prstGeom>
          <a:solidFill>
            <a:srgbClr val="E6F4F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0D7C66"/>
                </a:solidFill>
              </a:rPr>
              <a:t>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82224F-28DC-4D82-998D-C3C2C5F28727}"/>
              </a:ext>
            </a:extLst>
          </p:cNvPr>
          <p:cNvSpPr txBox="1"/>
          <p:nvPr/>
        </p:nvSpPr>
        <p:spPr>
          <a:xfrm>
            <a:off x="8788400" y="2184400"/>
            <a:ext cx="228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B2A4A"/>
                </a:solidFill>
              </a:rPr>
              <a:t>ICD / CPT validation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FBDE1A-58E5-4578-9B7B-E1C714CFB8AF}"/>
              </a:ext>
            </a:extLst>
          </p:cNvPr>
          <p:cNvSpPr txBox="1"/>
          <p:nvPr/>
        </p:nvSpPr>
        <p:spPr>
          <a:xfrm>
            <a:off x="8788400" y="2565400"/>
            <a:ext cx="228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2C3E6B"/>
                </a:solidFill>
              </a:rPr>
              <a:t>Check medical codes for validity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EEB70F-9F96-4226-9E64-A9F1851C4D03}"/>
              </a:ext>
            </a:extLst>
          </p:cNvPr>
          <p:cNvSpPr/>
          <p:nvPr/>
        </p:nvSpPr>
        <p:spPr>
          <a:xfrm>
            <a:off x="914400" y="3784600"/>
            <a:ext cx="3302000" cy="165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1E5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F418419-9E90-4577-B215-2BFC877424A4}"/>
              </a:ext>
            </a:extLst>
          </p:cNvPr>
          <p:cNvSpPr/>
          <p:nvPr/>
        </p:nvSpPr>
        <p:spPr>
          <a:xfrm>
            <a:off x="1117600" y="4013200"/>
            <a:ext cx="482600" cy="482600"/>
          </a:xfrm>
          <a:prstGeom prst="ellipse">
            <a:avLst/>
          </a:prstGeom>
          <a:solidFill>
            <a:srgbClr val="E6F4F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0D7C66"/>
                </a:solidFill>
              </a:rPr>
              <a:t>₹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82CF63-72DA-4D5B-9B50-0CF4AD601EF9}"/>
              </a:ext>
            </a:extLst>
          </p:cNvPr>
          <p:cNvSpPr txBox="1"/>
          <p:nvPr/>
        </p:nvSpPr>
        <p:spPr>
          <a:xfrm>
            <a:off x="1727200" y="4064000"/>
            <a:ext cx="228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B2A4A"/>
                </a:solidFill>
              </a:rPr>
              <a:t>Amount mismatch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DE657B-42CB-42F3-AC0E-FCED08A62872}"/>
              </a:ext>
            </a:extLst>
          </p:cNvPr>
          <p:cNvSpPr txBox="1"/>
          <p:nvPr/>
        </p:nvSpPr>
        <p:spPr>
          <a:xfrm>
            <a:off x="1727200" y="4445000"/>
            <a:ext cx="228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2C3E6B"/>
                </a:solidFill>
              </a:rPr>
              <a:t>Detect inconsistent figures across forms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12DC0B-5C81-4482-89B3-E8AC2AB7D02D}"/>
              </a:ext>
            </a:extLst>
          </p:cNvPr>
          <p:cNvSpPr/>
          <p:nvPr/>
        </p:nvSpPr>
        <p:spPr>
          <a:xfrm>
            <a:off x="4445000" y="3784600"/>
            <a:ext cx="3302000" cy="165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1E5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1B2C30E-BEFE-429B-80E8-206BABC0BCEC}"/>
              </a:ext>
            </a:extLst>
          </p:cNvPr>
          <p:cNvSpPr/>
          <p:nvPr/>
        </p:nvSpPr>
        <p:spPr>
          <a:xfrm>
            <a:off x="4648200" y="4013200"/>
            <a:ext cx="482600" cy="482600"/>
          </a:xfrm>
          <a:prstGeom prst="ellipse">
            <a:avLst/>
          </a:prstGeom>
          <a:solidFill>
            <a:srgbClr val="E6F4F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0D7C66"/>
                </a:solidFill>
              </a:rPr>
              <a:t>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F23338-3F11-4783-8DB8-37E6CA9739D0}"/>
              </a:ext>
            </a:extLst>
          </p:cNvPr>
          <p:cNvSpPr txBox="1"/>
          <p:nvPr/>
        </p:nvSpPr>
        <p:spPr>
          <a:xfrm>
            <a:off x="5257800" y="4064000"/>
            <a:ext cx="228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B2A4A"/>
                </a:solidFill>
              </a:rPr>
              <a:t>Risk scoring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87AA7B-EE13-4CA6-9F80-16A75ED0414C}"/>
              </a:ext>
            </a:extLst>
          </p:cNvPr>
          <p:cNvSpPr txBox="1"/>
          <p:nvPr/>
        </p:nvSpPr>
        <p:spPr>
          <a:xfrm>
            <a:off x="5257800" y="4445000"/>
            <a:ext cx="228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2C3E6B"/>
                </a:solidFill>
              </a:rPr>
              <a:t>Combine signals into a single score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B5DFA4-E458-4A15-ACE7-165529AEB8AB}"/>
              </a:ext>
            </a:extLst>
          </p:cNvPr>
          <p:cNvSpPr/>
          <p:nvPr/>
        </p:nvSpPr>
        <p:spPr>
          <a:xfrm>
            <a:off x="7975600" y="3784600"/>
            <a:ext cx="3302000" cy="165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1E5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0C58920-481D-471B-A0A4-0B63C75AE73B}"/>
              </a:ext>
            </a:extLst>
          </p:cNvPr>
          <p:cNvSpPr/>
          <p:nvPr/>
        </p:nvSpPr>
        <p:spPr>
          <a:xfrm>
            <a:off x="8178800" y="4013200"/>
            <a:ext cx="482600" cy="482600"/>
          </a:xfrm>
          <a:prstGeom prst="ellipse">
            <a:avLst/>
          </a:prstGeom>
          <a:solidFill>
            <a:srgbClr val="E6F4F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0D7C66"/>
                </a:solidFill>
              </a:rPr>
              <a:t>📊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9A0067-4521-4FAA-B0B9-568352C57F2A}"/>
              </a:ext>
            </a:extLst>
          </p:cNvPr>
          <p:cNvSpPr txBox="1"/>
          <p:nvPr/>
        </p:nvSpPr>
        <p:spPr>
          <a:xfrm>
            <a:off x="8788400" y="4064000"/>
            <a:ext cx="228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B2A4A"/>
                </a:solidFill>
              </a:rPr>
              <a:t>Role-based dashboards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7EC367-BE7F-4D2C-B14B-990F5C192E8F}"/>
              </a:ext>
            </a:extLst>
          </p:cNvPr>
          <p:cNvSpPr txBox="1"/>
          <p:nvPr/>
        </p:nvSpPr>
        <p:spPr>
          <a:xfrm>
            <a:off x="8788400" y="4445000"/>
            <a:ext cx="228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2C3E6B"/>
                </a:solidFill>
              </a:rPr>
              <a:t>Tailored views for each user role</a:t>
            </a:r>
          </a:p>
        </p:txBody>
      </p:sp>
    </p:spTree>
    <p:extLst>
      <p:ext uri="{BB962C8B-B14F-4D97-AF65-F5344CB8AC3E}">
        <p14:creationId xmlns:p14="http://schemas.microsoft.com/office/powerpoint/2010/main" val="1208686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F00AF-5FCF-489D-965C-387AF9377C94}"/>
              </a:ext>
            </a:extLst>
          </p:cNvPr>
          <p:cNvSpPr txBox="1"/>
          <p:nvPr/>
        </p:nvSpPr>
        <p:spPr>
          <a:xfrm>
            <a:off x="914400" y="635000"/>
            <a:ext cx="10363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E8563A"/>
                </a:solidFill>
              </a:rPr>
              <a:t>08  /  DEMO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B0A55F-829B-41A3-95F9-149C1564CD1F}"/>
              </a:ext>
            </a:extLst>
          </p:cNvPr>
          <p:cNvSpPr txBox="1"/>
          <p:nvPr/>
        </p:nvSpPr>
        <p:spPr>
          <a:xfrm>
            <a:off x="914400" y="1016000"/>
            <a:ext cx="10363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B2A4A"/>
                </a:solidFill>
              </a:rPr>
              <a:t>One claim, end-to-end (3–4 minutes)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1F4D6C-3FB3-4638-A6E4-55E845D3E625}"/>
              </a:ext>
            </a:extLst>
          </p:cNvPr>
          <p:cNvSpPr/>
          <p:nvPr/>
        </p:nvSpPr>
        <p:spPr>
          <a:xfrm>
            <a:off x="914400" y="1841500"/>
            <a:ext cx="10363200" cy="558800"/>
          </a:xfrm>
          <a:prstGeom prst="rect">
            <a:avLst/>
          </a:prstGeom>
          <a:solidFill>
            <a:srgbClr val="FFF4E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5704E9-01C9-4343-8BE2-9AFB093FCEB4}"/>
              </a:ext>
            </a:extLst>
          </p:cNvPr>
          <p:cNvSpPr/>
          <p:nvPr/>
        </p:nvSpPr>
        <p:spPr>
          <a:xfrm>
            <a:off x="914400" y="1841500"/>
            <a:ext cx="63500" cy="558800"/>
          </a:xfrm>
          <a:prstGeom prst="rect">
            <a:avLst/>
          </a:prstGeom>
          <a:solidFill>
            <a:srgbClr val="E856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52CFA7-D77B-4881-A1CD-F7C1BF519254}"/>
              </a:ext>
            </a:extLst>
          </p:cNvPr>
          <p:cNvSpPr txBox="1"/>
          <p:nvPr/>
        </p:nvSpPr>
        <p:spPr>
          <a:xfrm>
            <a:off x="1168400" y="1968500"/>
            <a:ext cx="9855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500" i="1" dirty="0">
                <a:solidFill>
                  <a:srgbClr val="1B2A4A"/>
                </a:solidFill>
              </a:rPr>
              <a:t>Single claim, end-to-end — login as approver and walk through one decision.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860552-734F-41BB-B843-827564CB57E0}"/>
              </a:ext>
            </a:extLst>
          </p:cNvPr>
          <p:cNvSpPr/>
          <p:nvPr/>
        </p:nvSpPr>
        <p:spPr>
          <a:xfrm>
            <a:off x="965200" y="2730500"/>
            <a:ext cx="1930400" cy="2222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1E5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73F77A-70E8-4777-9B94-DD0DD91EB627}"/>
              </a:ext>
            </a:extLst>
          </p:cNvPr>
          <p:cNvSpPr/>
          <p:nvPr/>
        </p:nvSpPr>
        <p:spPr>
          <a:xfrm>
            <a:off x="965200" y="2730500"/>
            <a:ext cx="1930400" cy="482600"/>
          </a:xfrm>
          <a:prstGeom prst="rect">
            <a:avLst/>
          </a:prstGeom>
          <a:solidFill>
            <a:srgbClr val="1B2A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9AB32C-E482-44B9-B5D0-5F23EFAEA0C0}"/>
              </a:ext>
            </a:extLst>
          </p:cNvPr>
          <p:cNvSpPr txBox="1"/>
          <p:nvPr/>
        </p:nvSpPr>
        <p:spPr>
          <a:xfrm>
            <a:off x="1117600" y="3441700"/>
            <a:ext cx="1625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B2A4A"/>
                </a:solidFill>
              </a:rPr>
              <a:t>Login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65E5EF-F2C6-4893-AA9A-112B0C02C3E5}"/>
              </a:ext>
            </a:extLst>
          </p:cNvPr>
          <p:cNvSpPr txBox="1"/>
          <p:nvPr/>
        </p:nvSpPr>
        <p:spPr>
          <a:xfrm>
            <a:off x="1117600" y="4127500"/>
            <a:ext cx="1625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2C3E6B"/>
                </a:solidFill>
              </a:rPr>
              <a:t>as approver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475776-8FDA-404D-8F70-8DE9F8349640}"/>
              </a:ext>
            </a:extLst>
          </p:cNvPr>
          <p:cNvSpPr/>
          <p:nvPr/>
        </p:nvSpPr>
        <p:spPr>
          <a:xfrm>
            <a:off x="3048000" y="2730500"/>
            <a:ext cx="1930400" cy="2222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1E5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150021-305F-4672-B779-8DCD2001F61A}"/>
              </a:ext>
            </a:extLst>
          </p:cNvPr>
          <p:cNvSpPr/>
          <p:nvPr/>
        </p:nvSpPr>
        <p:spPr>
          <a:xfrm>
            <a:off x="3048000" y="2730500"/>
            <a:ext cx="1930400" cy="482600"/>
          </a:xfrm>
          <a:prstGeom prst="rect">
            <a:avLst/>
          </a:prstGeom>
          <a:solidFill>
            <a:srgbClr val="1B2A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B41DE6-4301-49BA-9269-1B98A4626BE7}"/>
              </a:ext>
            </a:extLst>
          </p:cNvPr>
          <p:cNvSpPr txBox="1"/>
          <p:nvPr/>
        </p:nvSpPr>
        <p:spPr>
          <a:xfrm>
            <a:off x="3200400" y="3441700"/>
            <a:ext cx="1625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B2A4A"/>
                </a:solidFill>
              </a:rPr>
              <a:t>Open claim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9B15BF-D04D-4F68-839F-68FA210CE2E1}"/>
              </a:ext>
            </a:extLst>
          </p:cNvPr>
          <p:cNvSpPr txBox="1"/>
          <p:nvPr/>
        </p:nvSpPr>
        <p:spPr>
          <a:xfrm>
            <a:off x="3200400" y="4127500"/>
            <a:ext cx="1625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2C3E6B"/>
                </a:solidFill>
              </a:rPr>
              <a:t>Pick one case from queue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53A8AF-5E49-4BA5-9F50-0CCA6A0820BF}"/>
              </a:ext>
            </a:extLst>
          </p:cNvPr>
          <p:cNvSpPr/>
          <p:nvPr/>
        </p:nvSpPr>
        <p:spPr>
          <a:xfrm>
            <a:off x="5130800" y="2730500"/>
            <a:ext cx="1930400" cy="2222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1E5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85667E-5424-4199-9205-AC3E90EEDD96}"/>
              </a:ext>
            </a:extLst>
          </p:cNvPr>
          <p:cNvSpPr/>
          <p:nvPr/>
        </p:nvSpPr>
        <p:spPr>
          <a:xfrm>
            <a:off x="5130800" y="2730500"/>
            <a:ext cx="1930400" cy="482600"/>
          </a:xfrm>
          <a:prstGeom prst="rect">
            <a:avLst/>
          </a:prstGeom>
          <a:solidFill>
            <a:srgbClr val="1B2A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F44DD4-E807-4C53-85A8-C31047722E16}"/>
              </a:ext>
            </a:extLst>
          </p:cNvPr>
          <p:cNvSpPr txBox="1"/>
          <p:nvPr/>
        </p:nvSpPr>
        <p:spPr>
          <a:xfrm>
            <a:off x="5283200" y="3441700"/>
            <a:ext cx="1625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B2A4A"/>
                </a:solidFill>
              </a:rPr>
              <a:t>Show risk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050441-C23A-4749-BAB3-4FF78F9F167D}"/>
              </a:ext>
            </a:extLst>
          </p:cNvPr>
          <p:cNvSpPr txBox="1"/>
          <p:nvPr/>
        </p:nvSpPr>
        <p:spPr>
          <a:xfrm>
            <a:off x="5283200" y="4127500"/>
            <a:ext cx="1625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2C3E6B"/>
                </a:solidFill>
              </a:rPr>
              <a:t>Risk score + signals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F278A0-F583-448B-9D50-35709DBCC769}"/>
              </a:ext>
            </a:extLst>
          </p:cNvPr>
          <p:cNvSpPr/>
          <p:nvPr/>
        </p:nvSpPr>
        <p:spPr>
          <a:xfrm>
            <a:off x="7213600" y="2730500"/>
            <a:ext cx="1930400" cy="2222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1E5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D49510-1179-4150-A8B7-374D5039E594}"/>
              </a:ext>
            </a:extLst>
          </p:cNvPr>
          <p:cNvSpPr/>
          <p:nvPr/>
        </p:nvSpPr>
        <p:spPr>
          <a:xfrm>
            <a:off x="7213600" y="2730500"/>
            <a:ext cx="1930400" cy="482600"/>
          </a:xfrm>
          <a:prstGeom prst="rect">
            <a:avLst/>
          </a:prstGeom>
          <a:solidFill>
            <a:srgbClr val="1B2A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564E63-D9A7-4BC0-9492-B71F77C08DCC}"/>
              </a:ext>
            </a:extLst>
          </p:cNvPr>
          <p:cNvSpPr txBox="1"/>
          <p:nvPr/>
        </p:nvSpPr>
        <p:spPr>
          <a:xfrm>
            <a:off x="7366000" y="3441700"/>
            <a:ext cx="1625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B2A4A"/>
                </a:solidFill>
              </a:rPr>
              <a:t>Show issues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2ADEE5-F440-4BD1-B0DB-FA881239656B}"/>
              </a:ext>
            </a:extLst>
          </p:cNvPr>
          <p:cNvSpPr txBox="1"/>
          <p:nvPr/>
        </p:nvSpPr>
        <p:spPr>
          <a:xfrm>
            <a:off x="7366000" y="4127500"/>
            <a:ext cx="1625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2C3E6B"/>
                </a:solidFill>
              </a:rPr>
              <a:t>Flagged mismatches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908066-BBD0-433A-A7F1-A4D08C15E58E}"/>
              </a:ext>
            </a:extLst>
          </p:cNvPr>
          <p:cNvSpPr/>
          <p:nvPr/>
        </p:nvSpPr>
        <p:spPr>
          <a:xfrm>
            <a:off x="9296400" y="2730500"/>
            <a:ext cx="1930400" cy="2222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1E5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FDD793-E7DA-46E8-A4FC-D1450530DFA2}"/>
              </a:ext>
            </a:extLst>
          </p:cNvPr>
          <p:cNvSpPr/>
          <p:nvPr/>
        </p:nvSpPr>
        <p:spPr>
          <a:xfrm>
            <a:off x="9296400" y="2730500"/>
            <a:ext cx="1930400" cy="482600"/>
          </a:xfrm>
          <a:prstGeom prst="rect">
            <a:avLst/>
          </a:prstGeom>
          <a:solidFill>
            <a:srgbClr val="1B2A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91138A-3D62-4D15-ABB2-2971621CBA6B}"/>
              </a:ext>
            </a:extLst>
          </p:cNvPr>
          <p:cNvSpPr txBox="1"/>
          <p:nvPr/>
        </p:nvSpPr>
        <p:spPr>
          <a:xfrm>
            <a:off x="9448800" y="3441700"/>
            <a:ext cx="1625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B2A4A"/>
                </a:solidFill>
              </a:rPr>
              <a:t>Decide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7200C0-E732-4749-BC37-1E14B2E8055E}"/>
              </a:ext>
            </a:extLst>
          </p:cNvPr>
          <p:cNvSpPr txBox="1"/>
          <p:nvPr/>
        </p:nvSpPr>
        <p:spPr>
          <a:xfrm>
            <a:off x="9448800" y="4127500"/>
            <a:ext cx="1625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2C3E6B"/>
                </a:solidFill>
              </a:rPr>
              <a:t>Approve or reject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F96F04-A99C-4397-AB44-F2C79D7F72B1}"/>
              </a:ext>
            </a:extLst>
          </p:cNvPr>
          <p:cNvSpPr txBox="1"/>
          <p:nvPr/>
        </p:nvSpPr>
        <p:spPr>
          <a:xfrm>
            <a:off x="914400" y="52705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0D7C66"/>
                </a:solidFill>
              </a:rPr>
              <a:t>Say after demo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E60A12-2554-45EB-AED8-099B842BC3D9}"/>
              </a:ext>
            </a:extLst>
          </p:cNvPr>
          <p:cNvSpPr txBox="1"/>
          <p:nvPr/>
        </p:nvSpPr>
        <p:spPr>
          <a:xfrm>
            <a:off x="914400" y="5549900"/>
            <a:ext cx="10363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2C3E6B"/>
                </a:solidFill>
              </a:rPr>
              <a:t>System surfaced the right signals — approver did not have to read every page.</a:t>
            </a:r>
          </a:p>
        </p:txBody>
      </p:sp>
    </p:spTree>
    <p:extLst>
      <p:ext uri="{BB962C8B-B14F-4D97-AF65-F5344CB8AC3E}">
        <p14:creationId xmlns:p14="http://schemas.microsoft.com/office/powerpoint/2010/main" val="1613195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E74772-B6CB-4BBF-8CCB-064812CA0F5F}"/>
              </a:ext>
            </a:extLst>
          </p:cNvPr>
          <p:cNvSpPr txBox="1"/>
          <p:nvPr/>
        </p:nvSpPr>
        <p:spPr>
          <a:xfrm>
            <a:off x="914400" y="635000"/>
            <a:ext cx="10363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D7C66"/>
                </a:solidFill>
              </a:rPr>
              <a:t>09  /  DECISION LOGIC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DBB083-18FF-4E3A-94B7-B248EA0A6DAF}"/>
              </a:ext>
            </a:extLst>
          </p:cNvPr>
          <p:cNvSpPr txBox="1"/>
          <p:nvPr/>
        </p:nvSpPr>
        <p:spPr>
          <a:xfrm>
            <a:off x="914400" y="1016000"/>
            <a:ext cx="10363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B2A4A"/>
                </a:solidFill>
              </a:rPr>
              <a:t>Inputs in, signals out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EC38A9-2DF8-4B0A-9BE2-1295FF77D202}"/>
              </a:ext>
            </a:extLst>
          </p:cNvPr>
          <p:cNvSpPr/>
          <p:nvPr/>
        </p:nvSpPr>
        <p:spPr>
          <a:xfrm>
            <a:off x="1143000" y="2032000"/>
            <a:ext cx="4064000" cy="3556000"/>
          </a:xfrm>
          <a:prstGeom prst="rect">
            <a:avLst/>
          </a:prstGeom>
          <a:solidFill>
            <a:srgbClr val="F0F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614CC1-2967-404B-A23B-914930394D14}"/>
              </a:ext>
            </a:extLst>
          </p:cNvPr>
          <p:cNvSpPr/>
          <p:nvPr/>
        </p:nvSpPr>
        <p:spPr>
          <a:xfrm>
            <a:off x="1143000" y="2032000"/>
            <a:ext cx="4064000" cy="558800"/>
          </a:xfrm>
          <a:prstGeom prst="rect">
            <a:avLst/>
          </a:prstGeom>
          <a:solidFill>
            <a:srgbClr val="3A86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INPUTS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180922D-6F7B-49BE-A488-77319D97E246}"/>
              </a:ext>
            </a:extLst>
          </p:cNvPr>
          <p:cNvSpPr/>
          <p:nvPr/>
        </p:nvSpPr>
        <p:spPr>
          <a:xfrm>
            <a:off x="1397000" y="2870200"/>
            <a:ext cx="127000" cy="127000"/>
          </a:xfrm>
          <a:prstGeom prst="ellipse">
            <a:avLst/>
          </a:prstGeom>
          <a:solidFill>
            <a:srgbClr val="3A86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0488FB-6651-4CB7-9A1C-AB5430DBF97E}"/>
              </a:ext>
            </a:extLst>
          </p:cNvPr>
          <p:cNvSpPr txBox="1"/>
          <p:nvPr/>
        </p:nvSpPr>
        <p:spPr>
          <a:xfrm>
            <a:off x="1625600" y="2794000"/>
            <a:ext cx="342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B2A4A"/>
                </a:solidFill>
              </a:rPr>
              <a:t>Invalid codes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4149A9-AC0B-407E-8AB3-81A060C4C250}"/>
              </a:ext>
            </a:extLst>
          </p:cNvPr>
          <p:cNvSpPr txBox="1"/>
          <p:nvPr/>
        </p:nvSpPr>
        <p:spPr>
          <a:xfrm>
            <a:off x="1625600" y="3098800"/>
            <a:ext cx="342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2C3E6B"/>
                </a:solidFill>
              </a:rPr>
              <a:t>ICD/CPT codes not recognized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AC9A14-C6BA-49A0-A2B3-1598547AEB27}"/>
              </a:ext>
            </a:extLst>
          </p:cNvPr>
          <p:cNvSpPr/>
          <p:nvPr/>
        </p:nvSpPr>
        <p:spPr>
          <a:xfrm>
            <a:off x="1397000" y="3784600"/>
            <a:ext cx="127000" cy="127000"/>
          </a:xfrm>
          <a:prstGeom prst="ellipse">
            <a:avLst/>
          </a:prstGeom>
          <a:solidFill>
            <a:srgbClr val="3A86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38BB8D-B965-4EFB-90BC-203EF910CB19}"/>
              </a:ext>
            </a:extLst>
          </p:cNvPr>
          <p:cNvSpPr txBox="1"/>
          <p:nvPr/>
        </p:nvSpPr>
        <p:spPr>
          <a:xfrm>
            <a:off x="1625600" y="3708400"/>
            <a:ext cx="342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B2A4A"/>
                </a:solidFill>
              </a:rPr>
              <a:t>Amount mismatch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8AF641-6582-4E17-B7D4-F988222B9DE7}"/>
              </a:ext>
            </a:extLst>
          </p:cNvPr>
          <p:cNvSpPr txBox="1"/>
          <p:nvPr/>
        </p:nvSpPr>
        <p:spPr>
          <a:xfrm>
            <a:off x="1625600" y="4013200"/>
            <a:ext cx="342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2C3E6B"/>
                </a:solidFill>
              </a:rPr>
              <a:t>Figures disagree across forms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7D5FBCD-52A9-4ACC-A8BD-C910A4670CD0}"/>
              </a:ext>
            </a:extLst>
          </p:cNvPr>
          <p:cNvSpPr/>
          <p:nvPr/>
        </p:nvSpPr>
        <p:spPr>
          <a:xfrm>
            <a:off x="1397000" y="4699000"/>
            <a:ext cx="127000" cy="127000"/>
          </a:xfrm>
          <a:prstGeom prst="ellipse">
            <a:avLst/>
          </a:prstGeom>
          <a:solidFill>
            <a:srgbClr val="3A86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DFC85-DEE1-4715-B0F5-0F134736F946}"/>
              </a:ext>
            </a:extLst>
          </p:cNvPr>
          <p:cNvSpPr txBox="1"/>
          <p:nvPr/>
        </p:nvSpPr>
        <p:spPr>
          <a:xfrm>
            <a:off x="1625600" y="4622800"/>
            <a:ext cx="342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B2A4A"/>
                </a:solidFill>
              </a:rPr>
              <a:t>Policy compliance / OCR quality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E42606-8658-4F9E-AE73-FEAD280C0398}"/>
              </a:ext>
            </a:extLst>
          </p:cNvPr>
          <p:cNvSpPr txBox="1"/>
          <p:nvPr/>
        </p:nvSpPr>
        <p:spPr>
          <a:xfrm>
            <a:off x="1625600" y="4927600"/>
            <a:ext cx="342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2C3E6B"/>
                </a:solidFill>
              </a:rPr>
              <a:t>Policy rule violations and OCR confidence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510D491-8BDB-486D-8F95-BBCE02C956FD}"/>
              </a:ext>
            </a:extLst>
          </p:cNvPr>
          <p:cNvSpPr/>
          <p:nvPr/>
        </p:nvSpPr>
        <p:spPr>
          <a:xfrm>
            <a:off x="5397500" y="3556000"/>
            <a:ext cx="1397000" cy="508000"/>
          </a:xfrm>
          <a:prstGeom prst="rightArrow">
            <a:avLst/>
          </a:prstGeom>
          <a:solidFill>
            <a:srgbClr val="0D7C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8DC7DC-0A27-4F14-B1C2-37D33ABB6593}"/>
              </a:ext>
            </a:extLst>
          </p:cNvPr>
          <p:cNvSpPr/>
          <p:nvPr/>
        </p:nvSpPr>
        <p:spPr>
          <a:xfrm>
            <a:off x="6985000" y="2032000"/>
            <a:ext cx="4064000" cy="3556000"/>
          </a:xfrm>
          <a:prstGeom prst="rect">
            <a:avLst/>
          </a:prstGeom>
          <a:solidFill>
            <a:srgbClr val="F0F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093491-4F6F-406B-A8D0-1277D593B2EC}"/>
              </a:ext>
            </a:extLst>
          </p:cNvPr>
          <p:cNvSpPr/>
          <p:nvPr/>
        </p:nvSpPr>
        <p:spPr>
          <a:xfrm>
            <a:off x="6985000" y="2032000"/>
            <a:ext cx="4064000" cy="558800"/>
          </a:xfrm>
          <a:prstGeom prst="rect">
            <a:avLst/>
          </a:prstGeom>
          <a:solidFill>
            <a:srgbClr val="0D7C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OUTPUTS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DC0BA95-EA41-4635-8CE8-5312AAB56781}"/>
              </a:ext>
            </a:extLst>
          </p:cNvPr>
          <p:cNvSpPr/>
          <p:nvPr/>
        </p:nvSpPr>
        <p:spPr>
          <a:xfrm>
            <a:off x="7239000" y="2997200"/>
            <a:ext cx="127000" cy="127000"/>
          </a:xfrm>
          <a:prstGeom prst="ellipse">
            <a:avLst/>
          </a:prstGeom>
          <a:solidFill>
            <a:srgbClr val="0D7C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D1CE21-ABE6-48E2-8CE9-BAAE5DEFA5E1}"/>
              </a:ext>
            </a:extLst>
          </p:cNvPr>
          <p:cNvSpPr txBox="1"/>
          <p:nvPr/>
        </p:nvSpPr>
        <p:spPr>
          <a:xfrm>
            <a:off x="7467600" y="2921000"/>
            <a:ext cx="342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B2A4A"/>
                </a:solidFill>
              </a:rPr>
              <a:t>Risk score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FCC936-7DE5-4EE5-8938-C83A5A98B7CA}"/>
              </a:ext>
            </a:extLst>
          </p:cNvPr>
          <p:cNvSpPr txBox="1"/>
          <p:nvPr/>
        </p:nvSpPr>
        <p:spPr>
          <a:xfrm>
            <a:off x="7467600" y="3225800"/>
            <a:ext cx="342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2C3E6B"/>
                </a:solidFill>
              </a:rPr>
              <a:t>Single number summarizing all signals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D40EE2E-E8F6-40A9-874F-944B38216E7B}"/>
              </a:ext>
            </a:extLst>
          </p:cNvPr>
          <p:cNvSpPr/>
          <p:nvPr/>
        </p:nvSpPr>
        <p:spPr>
          <a:xfrm>
            <a:off x="7239000" y="4140200"/>
            <a:ext cx="127000" cy="127000"/>
          </a:xfrm>
          <a:prstGeom prst="ellipse">
            <a:avLst/>
          </a:prstGeom>
          <a:solidFill>
            <a:srgbClr val="0D7C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54AD93-88B8-41DD-974C-1F1C3D56879F}"/>
              </a:ext>
            </a:extLst>
          </p:cNvPr>
          <p:cNvSpPr txBox="1"/>
          <p:nvPr/>
        </p:nvSpPr>
        <p:spPr>
          <a:xfrm>
            <a:off x="7467600" y="4064000"/>
            <a:ext cx="342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B2A4A"/>
                </a:solidFill>
              </a:rPr>
              <a:t>Issues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2A0634-8819-4700-857B-935A3064A13B}"/>
              </a:ext>
            </a:extLst>
          </p:cNvPr>
          <p:cNvSpPr txBox="1"/>
          <p:nvPr/>
        </p:nvSpPr>
        <p:spPr>
          <a:xfrm>
            <a:off x="7467600" y="4368800"/>
            <a:ext cx="342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2C3E6B"/>
                </a:solidFill>
              </a:rPr>
              <a:t>Specific problems flagged for the approver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B8DE71-11AB-43DA-88F8-8F1F0D1E9CC1}"/>
              </a:ext>
            </a:extLst>
          </p:cNvPr>
          <p:cNvSpPr/>
          <p:nvPr/>
        </p:nvSpPr>
        <p:spPr>
          <a:xfrm>
            <a:off x="914400" y="5842000"/>
            <a:ext cx="10363200" cy="457200"/>
          </a:xfrm>
          <a:prstGeom prst="rect">
            <a:avLst/>
          </a:prstGeom>
          <a:solidFill>
            <a:srgbClr val="1B2A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FCC104-D366-4BBB-839E-DED5FBE6329B}"/>
              </a:ext>
            </a:extLst>
          </p:cNvPr>
          <p:cNvSpPr txBox="1"/>
          <p:nvPr/>
        </p:nvSpPr>
        <p:spPr>
          <a:xfrm>
            <a:off x="1168400" y="5930900"/>
            <a:ext cx="9855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Rule-based system — ML optional</a:t>
            </a:r>
          </a:p>
        </p:txBody>
      </p:sp>
    </p:spTree>
    <p:extLst>
      <p:ext uri="{BB962C8B-B14F-4D97-AF65-F5344CB8AC3E}">
        <p14:creationId xmlns:p14="http://schemas.microsoft.com/office/powerpoint/2010/main" val="2801411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9C447B-2C7E-402A-A082-A9491F760B80}"/>
              </a:ext>
            </a:extLst>
          </p:cNvPr>
          <p:cNvSpPr txBox="1"/>
          <p:nvPr/>
        </p:nvSpPr>
        <p:spPr>
          <a:xfrm>
            <a:off x="914400" y="635000"/>
            <a:ext cx="10363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D7C66"/>
                </a:solidFill>
              </a:rPr>
              <a:t>10  /  CHALLENGES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A1D6A4-395F-4E9C-9162-20A98CECCC04}"/>
              </a:ext>
            </a:extLst>
          </p:cNvPr>
          <p:cNvSpPr txBox="1"/>
          <p:nvPr/>
        </p:nvSpPr>
        <p:spPr>
          <a:xfrm>
            <a:off x="914400" y="1016000"/>
            <a:ext cx="10363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B2A4A"/>
                </a:solidFill>
              </a:rPr>
              <a:t>What was hard during build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49C2EC-ED9F-4E19-BC90-5CA822B575D9}"/>
              </a:ext>
            </a:extLst>
          </p:cNvPr>
          <p:cNvSpPr/>
          <p:nvPr/>
        </p:nvSpPr>
        <p:spPr>
          <a:xfrm>
            <a:off x="914400" y="1968500"/>
            <a:ext cx="4826000" cy="165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1E5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F6A0F8-26C5-4672-86EF-1FD9B772201A}"/>
              </a:ext>
            </a:extLst>
          </p:cNvPr>
          <p:cNvSpPr txBox="1"/>
          <p:nvPr/>
        </p:nvSpPr>
        <p:spPr>
          <a:xfrm>
            <a:off x="1143000" y="2146300"/>
            <a:ext cx="76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0D7C66"/>
                </a:solidFill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E8721C-BBF1-4BCD-8B33-FEF93B00E1D3}"/>
              </a:ext>
            </a:extLst>
          </p:cNvPr>
          <p:cNvSpPr txBox="1"/>
          <p:nvPr/>
        </p:nvSpPr>
        <p:spPr>
          <a:xfrm>
            <a:off x="1905000" y="2247900"/>
            <a:ext cx="3683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1B2A4A"/>
                </a:solidFill>
              </a:rPr>
              <a:t>OCR accuracy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883139-F053-4CA8-BC51-674BD34E6423}"/>
              </a:ext>
            </a:extLst>
          </p:cNvPr>
          <p:cNvSpPr txBox="1"/>
          <p:nvPr/>
        </p:nvSpPr>
        <p:spPr>
          <a:xfrm>
            <a:off x="1905000" y="2603500"/>
            <a:ext cx="3683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C3E6B"/>
                </a:solidFill>
              </a:rPr>
              <a:t>Scans vary in quality; output needs cleanup before validation.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46C995-B64A-4D61-96EC-4F7EBE63C61D}"/>
              </a:ext>
            </a:extLst>
          </p:cNvPr>
          <p:cNvSpPr/>
          <p:nvPr/>
        </p:nvSpPr>
        <p:spPr>
          <a:xfrm>
            <a:off x="6121400" y="1968500"/>
            <a:ext cx="4826000" cy="165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1E5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1C3D14-F635-4BD3-AC01-0D77C09E3181}"/>
              </a:ext>
            </a:extLst>
          </p:cNvPr>
          <p:cNvSpPr txBox="1"/>
          <p:nvPr/>
        </p:nvSpPr>
        <p:spPr>
          <a:xfrm>
            <a:off x="6350000" y="2146300"/>
            <a:ext cx="76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0D7C66"/>
                </a:solidFill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DDEA0A-2E8E-4B43-9672-FAACBF43AE1C}"/>
              </a:ext>
            </a:extLst>
          </p:cNvPr>
          <p:cNvSpPr txBox="1"/>
          <p:nvPr/>
        </p:nvSpPr>
        <p:spPr>
          <a:xfrm>
            <a:off x="7112000" y="2247900"/>
            <a:ext cx="3683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1B2A4A"/>
                </a:solidFill>
              </a:rPr>
              <a:t>Mapping data fields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5B2782-F6ED-49F5-A799-B6202B6428DD}"/>
              </a:ext>
            </a:extLst>
          </p:cNvPr>
          <p:cNvSpPr txBox="1"/>
          <p:nvPr/>
        </p:nvSpPr>
        <p:spPr>
          <a:xfrm>
            <a:off x="7112000" y="2603500"/>
            <a:ext cx="3683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C3E6B"/>
                </a:solidFill>
              </a:rPr>
              <a:t>Different document layouts → mapping to a consistent schema is fiddly.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A0A1A2-8FE7-487A-A571-62559289F2EE}"/>
              </a:ext>
            </a:extLst>
          </p:cNvPr>
          <p:cNvSpPr/>
          <p:nvPr/>
        </p:nvSpPr>
        <p:spPr>
          <a:xfrm>
            <a:off x="914400" y="3873500"/>
            <a:ext cx="4826000" cy="165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1E5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E1353C-F310-4979-BEAB-919CD45DE523}"/>
              </a:ext>
            </a:extLst>
          </p:cNvPr>
          <p:cNvSpPr txBox="1"/>
          <p:nvPr/>
        </p:nvSpPr>
        <p:spPr>
          <a:xfrm>
            <a:off x="1143000" y="4051300"/>
            <a:ext cx="76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0D7C66"/>
                </a:solidFill>
              </a:rPr>
              <a:t>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A6BDAF-3AF7-48F6-8C27-6C326ED761AC}"/>
              </a:ext>
            </a:extLst>
          </p:cNvPr>
          <p:cNvSpPr txBox="1"/>
          <p:nvPr/>
        </p:nvSpPr>
        <p:spPr>
          <a:xfrm>
            <a:off x="1905000" y="4152900"/>
            <a:ext cx="3683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1B2A4A"/>
                </a:solidFill>
              </a:rPr>
              <a:t>Designing review workflow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3C8C69-D49E-41FD-AE85-053E34D927C7}"/>
              </a:ext>
            </a:extLst>
          </p:cNvPr>
          <p:cNvSpPr txBox="1"/>
          <p:nvPr/>
        </p:nvSpPr>
        <p:spPr>
          <a:xfrm>
            <a:off x="1905000" y="4508500"/>
            <a:ext cx="3683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C3E6B"/>
                </a:solidFill>
              </a:rPr>
              <a:t>Balancing detail and speed in the approver UI took several iterations.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7FE5B1-AD75-41DA-88F4-8577E3E45DC6}"/>
              </a:ext>
            </a:extLst>
          </p:cNvPr>
          <p:cNvSpPr/>
          <p:nvPr/>
        </p:nvSpPr>
        <p:spPr>
          <a:xfrm>
            <a:off x="6121400" y="3873500"/>
            <a:ext cx="4826000" cy="165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1E5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210867-527F-4DDB-ABB9-F5D55CD30A3F}"/>
              </a:ext>
            </a:extLst>
          </p:cNvPr>
          <p:cNvSpPr txBox="1"/>
          <p:nvPr/>
        </p:nvSpPr>
        <p:spPr>
          <a:xfrm>
            <a:off x="6350000" y="4051300"/>
            <a:ext cx="76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0D7C66"/>
                </a:solidFill>
              </a:rPr>
              <a:t>04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4EA19D-FD4A-42DA-AA29-5043B3C722B5}"/>
              </a:ext>
            </a:extLst>
          </p:cNvPr>
          <p:cNvSpPr txBox="1"/>
          <p:nvPr/>
        </p:nvSpPr>
        <p:spPr>
          <a:xfrm>
            <a:off x="7112000" y="4152900"/>
            <a:ext cx="3683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1B2A4A"/>
                </a:solidFill>
              </a:rPr>
              <a:t>Handling incomplete data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0636B0-78CF-4227-94E9-ADF71945038C}"/>
              </a:ext>
            </a:extLst>
          </p:cNvPr>
          <p:cNvSpPr txBox="1"/>
          <p:nvPr/>
        </p:nvSpPr>
        <p:spPr>
          <a:xfrm>
            <a:off x="7112000" y="4508500"/>
            <a:ext cx="3683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C3E6B"/>
                </a:solidFill>
              </a:rPr>
              <a:t>Claims often arrive partial — system must degrade gracefully, not crash.</a:t>
            </a:r>
          </a:p>
        </p:txBody>
      </p:sp>
    </p:spTree>
    <p:extLst>
      <p:ext uri="{BB962C8B-B14F-4D97-AF65-F5344CB8AC3E}">
        <p14:creationId xmlns:p14="http://schemas.microsoft.com/office/powerpoint/2010/main" val="193357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51EBE0-2474-46A5-9AF5-397959D642E8}"/>
              </a:ext>
            </a:extLst>
          </p:cNvPr>
          <p:cNvSpPr txBox="1"/>
          <p:nvPr/>
        </p:nvSpPr>
        <p:spPr>
          <a:xfrm>
            <a:off x="914400" y="635000"/>
            <a:ext cx="10363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D7C66"/>
                </a:solidFill>
              </a:rPr>
              <a:t>11  /  TRADEOFFS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B1189C-2CC1-47FD-AC5C-EC3776F38067}"/>
              </a:ext>
            </a:extLst>
          </p:cNvPr>
          <p:cNvSpPr txBox="1"/>
          <p:nvPr/>
        </p:nvSpPr>
        <p:spPr>
          <a:xfrm>
            <a:off x="914400" y="1016000"/>
            <a:ext cx="10363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B2A4A"/>
                </a:solidFill>
              </a:rPr>
              <a:t>Decisions that shaped the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1B6127-1D1A-4C54-B199-008237BA7B7F}"/>
              </a:ext>
            </a:extLst>
          </p:cNvPr>
          <p:cNvSpPr/>
          <p:nvPr/>
        </p:nvSpPr>
        <p:spPr>
          <a:xfrm>
            <a:off x="914400" y="1968500"/>
            <a:ext cx="10363200" cy="1016000"/>
          </a:xfrm>
          <a:prstGeom prst="rect">
            <a:avLst/>
          </a:prstGeom>
          <a:solidFill>
            <a:srgbClr val="F0F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C7498F-6DEE-4351-B6EF-31C29AC4A0D5}"/>
              </a:ext>
            </a:extLst>
          </p:cNvPr>
          <p:cNvSpPr txBox="1"/>
          <p:nvPr/>
        </p:nvSpPr>
        <p:spPr>
          <a:xfrm>
            <a:off x="1168400" y="2120900"/>
            <a:ext cx="3556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3A86C4"/>
                </a:solidFill>
              </a:rPr>
              <a:t>Automation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C1ECD6B-69AE-4C52-BE19-52F7F45724B3}"/>
              </a:ext>
            </a:extLst>
          </p:cNvPr>
          <p:cNvSpPr/>
          <p:nvPr/>
        </p:nvSpPr>
        <p:spPr>
          <a:xfrm>
            <a:off x="5842000" y="2197100"/>
            <a:ext cx="508000" cy="508000"/>
          </a:xfrm>
          <a:prstGeom prst="ellipse">
            <a:avLst/>
          </a:prstGeom>
          <a:solidFill>
            <a:srgbClr val="1B2A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9EE311-653C-40D4-A828-5114766D029E}"/>
              </a:ext>
            </a:extLst>
          </p:cNvPr>
          <p:cNvSpPr txBox="1"/>
          <p:nvPr/>
        </p:nvSpPr>
        <p:spPr>
          <a:xfrm>
            <a:off x="6477000" y="2120900"/>
            <a:ext cx="3556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0D7C66"/>
                </a:solidFill>
              </a:rPr>
              <a:t>Human control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705FAE-B944-446C-BDBC-6910D54A4E80}"/>
              </a:ext>
            </a:extLst>
          </p:cNvPr>
          <p:cNvSpPr txBox="1"/>
          <p:nvPr/>
        </p:nvSpPr>
        <p:spPr>
          <a:xfrm>
            <a:off x="1168400" y="25781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2C3E6B"/>
                </a:solidFill>
              </a:rPr>
              <a:t>→ Approver always sees the decision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1094F5-E224-427D-B65C-54D680C7204D}"/>
              </a:ext>
            </a:extLst>
          </p:cNvPr>
          <p:cNvSpPr/>
          <p:nvPr/>
        </p:nvSpPr>
        <p:spPr>
          <a:xfrm>
            <a:off x="914400" y="3136900"/>
            <a:ext cx="10363200" cy="1016000"/>
          </a:xfrm>
          <a:prstGeom prst="rect">
            <a:avLst/>
          </a:prstGeom>
          <a:solidFill>
            <a:srgbClr val="F0F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3B47C8-CC64-437C-82EA-95A9E17D1C0A}"/>
              </a:ext>
            </a:extLst>
          </p:cNvPr>
          <p:cNvSpPr txBox="1"/>
          <p:nvPr/>
        </p:nvSpPr>
        <p:spPr>
          <a:xfrm>
            <a:off x="1168400" y="3289300"/>
            <a:ext cx="3556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3A86C4"/>
                </a:solidFill>
              </a:rPr>
              <a:t>Accuracy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4E3CD5D-1C03-4E71-8B77-11D469064B3A}"/>
              </a:ext>
            </a:extLst>
          </p:cNvPr>
          <p:cNvSpPr/>
          <p:nvPr/>
        </p:nvSpPr>
        <p:spPr>
          <a:xfrm>
            <a:off x="5842000" y="3365500"/>
            <a:ext cx="508000" cy="508000"/>
          </a:xfrm>
          <a:prstGeom prst="ellipse">
            <a:avLst/>
          </a:prstGeom>
          <a:solidFill>
            <a:srgbClr val="1B2A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1A62E1-AC19-4F03-A5FE-C083A5C2DE1B}"/>
              </a:ext>
            </a:extLst>
          </p:cNvPr>
          <p:cNvSpPr txBox="1"/>
          <p:nvPr/>
        </p:nvSpPr>
        <p:spPr>
          <a:xfrm>
            <a:off x="6477000" y="3289300"/>
            <a:ext cx="3556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0D7C66"/>
                </a:solidFill>
              </a:rPr>
              <a:t>Speed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4B9B99-695B-4138-AF4A-1007B2A9929E}"/>
              </a:ext>
            </a:extLst>
          </p:cNvPr>
          <p:cNvSpPr txBox="1"/>
          <p:nvPr/>
        </p:nvSpPr>
        <p:spPr>
          <a:xfrm>
            <a:off x="1168400" y="37465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2C3E6B"/>
                </a:solidFill>
              </a:rPr>
              <a:t>→ Tuned thresholds to balance both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74AAD2-C9D3-43D9-8AE6-9B9E1D849F18}"/>
              </a:ext>
            </a:extLst>
          </p:cNvPr>
          <p:cNvSpPr/>
          <p:nvPr/>
        </p:nvSpPr>
        <p:spPr>
          <a:xfrm>
            <a:off x="914400" y="4305300"/>
            <a:ext cx="10363200" cy="1016000"/>
          </a:xfrm>
          <a:prstGeom prst="rect">
            <a:avLst/>
          </a:prstGeom>
          <a:solidFill>
            <a:srgbClr val="F0F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32B167-344E-4795-9EE7-1BF4B246BA6C}"/>
              </a:ext>
            </a:extLst>
          </p:cNvPr>
          <p:cNvSpPr txBox="1"/>
          <p:nvPr/>
        </p:nvSpPr>
        <p:spPr>
          <a:xfrm>
            <a:off x="1168400" y="4457700"/>
            <a:ext cx="3556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3A86C4"/>
                </a:solidFill>
              </a:rPr>
              <a:t>False positives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A7F000F-129B-48C9-B812-700CD38FBA17}"/>
              </a:ext>
            </a:extLst>
          </p:cNvPr>
          <p:cNvSpPr/>
          <p:nvPr/>
        </p:nvSpPr>
        <p:spPr>
          <a:xfrm>
            <a:off x="5842000" y="4533900"/>
            <a:ext cx="508000" cy="508000"/>
          </a:xfrm>
          <a:prstGeom prst="ellipse">
            <a:avLst/>
          </a:prstGeom>
          <a:solidFill>
            <a:srgbClr val="1B2A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0E5C45-0D16-44B8-841C-7E9FD417581C}"/>
              </a:ext>
            </a:extLst>
          </p:cNvPr>
          <p:cNvSpPr txBox="1"/>
          <p:nvPr/>
        </p:nvSpPr>
        <p:spPr>
          <a:xfrm>
            <a:off x="6477000" y="4457700"/>
            <a:ext cx="3556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0D7C66"/>
                </a:solidFill>
              </a:rPr>
              <a:t>Fraud detection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6D1C3C-71D5-4F88-A7E8-B2A7925ED58E}"/>
              </a:ext>
            </a:extLst>
          </p:cNvPr>
          <p:cNvSpPr txBox="1"/>
          <p:nvPr/>
        </p:nvSpPr>
        <p:spPr>
          <a:xfrm>
            <a:off x="1168400" y="49149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2C3E6B"/>
                </a:solidFill>
              </a:rPr>
              <a:t>→ Prefer flagging over missing risk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F12A7F-5EDD-4EBB-BEE9-D8D7F9E635F7}"/>
              </a:ext>
            </a:extLst>
          </p:cNvPr>
          <p:cNvSpPr/>
          <p:nvPr/>
        </p:nvSpPr>
        <p:spPr>
          <a:xfrm>
            <a:off x="914400" y="5842000"/>
            <a:ext cx="10363200" cy="508000"/>
          </a:xfrm>
          <a:prstGeom prst="rect">
            <a:avLst/>
          </a:prstGeom>
          <a:solidFill>
            <a:srgbClr val="0D7C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5634F9-D707-488B-89DF-FD0E0BAF34E0}"/>
              </a:ext>
            </a:extLst>
          </p:cNvPr>
          <p:cNvSpPr txBox="1"/>
          <p:nvPr/>
        </p:nvSpPr>
        <p:spPr>
          <a:xfrm>
            <a:off x="1168400" y="5930900"/>
            <a:ext cx="9855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Chose human-in-the-loop for safety</a:t>
            </a:r>
          </a:p>
        </p:txBody>
      </p:sp>
    </p:spTree>
    <p:extLst>
      <p:ext uri="{BB962C8B-B14F-4D97-AF65-F5344CB8AC3E}">
        <p14:creationId xmlns:p14="http://schemas.microsoft.com/office/powerpoint/2010/main" val="1171659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C12EC6-5F9B-407B-B0FB-090D3BAF87AE}"/>
              </a:ext>
            </a:extLst>
          </p:cNvPr>
          <p:cNvSpPr txBox="1"/>
          <p:nvPr/>
        </p:nvSpPr>
        <p:spPr>
          <a:xfrm>
            <a:off x="914400" y="635000"/>
            <a:ext cx="10363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E8563A"/>
                </a:solidFill>
              </a:rPr>
              <a:t>12  /  LIMITATIONS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7E0BB-1099-4562-A1E7-5B14C7BFBBA1}"/>
              </a:ext>
            </a:extLst>
          </p:cNvPr>
          <p:cNvSpPr txBox="1"/>
          <p:nvPr/>
        </p:nvSpPr>
        <p:spPr>
          <a:xfrm>
            <a:off x="914400" y="1016000"/>
            <a:ext cx="10363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B2A4A"/>
                </a:solidFill>
              </a:rPr>
              <a:t>Honest about what this isn't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D3778F-FEBF-48EE-ADF7-262562A00B89}"/>
              </a:ext>
            </a:extLst>
          </p:cNvPr>
          <p:cNvSpPr/>
          <p:nvPr/>
        </p:nvSpPr>
        <p:spPr>
          <a:xfrm>
            <a:off x="914400" y="2095500"/>
            <a:ext cx="4826000" cy="1651000"/>
          </a:xfrm>
          <a:prstGeom prst="rect">
            <a:avLst/>
          </a:prstGeom>
          <a:solidFill>
            <a:srgbClr val="FFF4E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C22BC1-0A23-4DDB-9155-EFF8573AF430}"/>
              </a:ext>
            </a:extLst>
          </p:cNvPr>
          <p:cNvSpPr/>
          <p:nvPr/>
        </p:nvSpPr>
        <p:spPr>
          <a:xfrm>
            <a:off x="914400" y="2095500"/>
            <a:ext cx="63500" cy="1651000"/>
          </a:xfrm>
          <a:prstGeom prst="rect">
            <a:avLst/>
          </a:prstGeom>
          <a:solidFill>
            <a:srgbClr val="E856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74B8575F-0DCE-4799-BCF4-3B4B50303DDC}"/>
              </a:ext>
            </a:extLst>
          </p:cNvPr>
          <p:cNvSpPr/>
          <p:nvPr/>
        </p:nvSpPr>
        <p:spPr>
          <a:xfrm>
            <a:off x="1193800" y="2400300"/>
            <a:ext cx="355600" cy="330200"/>
          </a:xfrm>
          <a:prstGeom prst="triangle">
            <a:avLst/>
          </a:prstGeom>
          <a:solidFill>
            <a:srgbClr val="E856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777B2C-D768-4E2B-87EA-E1E8CA7FBF07}"/>
              </a:ext>
            </a:extLst>
          </p:cNvPr>
          <p:cNvSpPr txBox="1"/>
          <p:nvPr/>
        </p:nvSpPr>
        <p:spPr>
          <a:xfrm>
            <a:off x="1676400" y="23749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1B2A4A"/>
                </a:solidFill>
              </a:rPr>
              <a:t>No real training dataset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FE8DC3-EBBD-4C2B-97BF-E38B314B8D15}"/>
              </a:ext>
            </a:extLst>
          </p:cNvPr>
          <p:cNvSpPr txBox="1"/>
          <p:nvPr/>
        </p:nvSpPr>
        <p:spPr>
          <a:xfrm>
            <a:off x="1676400" y="2806700"/>
            <a:ext cx="381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C3E6B"/>
                </a:solidFill>
              </a:rPr>
              <a:t>Built without production claim 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8ACEE9-5896-423E-9EEA-57BFFFFB26CC}"/>
              </a:ext>
            </a:extLst>
          </p:cNvPr>
          <p:cNvSpPr/>
          <p:nvPr/>
        </p:nvSpPr>
        <p:spPr>
          <a:xfrm>
            <a:off x="6121400" y="2095500"/>
            <a:ext cx="4826000" cy="1651000"/>
          </a:xfrm>
          <a:prstGeom prst="rect">
            <a:avLst/>
          </a:prstGeom>
          <a:solidFill>
            <a:srgbClr val="FFF4E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D5C60A-F4A2-4201-8334-7421865D0ED3}"/>
              </a:ext>
            </a:extLst>
          </p:cNvPr>
          <p:cNvSpPr/>
          <p:nvPr/>
        </p:nvSpPr>
        <p:spPr>
          <a:xfrm>
            <a:off x="6121400" y="2095500"/>
            <a:ext cx="63500" cy="1651000"/>
          </a:xfrm>
          <a:prstGeom prst="rect">
            <a:avLst/>
          </a:prstGeom>
          <a:solidFill>
            <a:srgbClr val="E856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3635AA47-AF93-43D3-8A28-0EBE011AF40F}"/>
              </a:ext>
            </a:extLst>
          </p:cNvPr>
          <p:cNvSpPr/>
          <p:nvPr/>
        </p:nvSpPr>
        <p:spPr>
          <a:xfrm>
            <a:off x="6400800" y="2400300"/>
            <a:ext cx="355600" cy="330200"/>
          </a:xfrm>
          <a:prstGeom prst="triangle">
            <a:avLst/>
          </a:prstGeom>
          <a:solidFill>
            <a:srgbClr val="E856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32AEBD-CAA0-4E2F-9325-E595352817CC}"/>
              </a:ext>
            </a:extLst>
          </p:cNvPr>
          <p:cNvSpPr txBox="1"/>
          <p:nvPr/>
        </p:nvSpPr>
        <p:spPr>
          <a:xfrm>
            <a:off x="6883400" y="23749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1B2A4A"/>
                </a:solidFill>
              </a:rPr>
              <a:t>Rule-based logic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ECCFE2-8D61-4DF7-8216-426651AA17AF}"/>
              </a:ext>
            </a:extLst>
          </p:cNvPr>
          <p:cNvSpPr txBox="1"/>
          <p:nvPr/>
        </p:nvSpPr>
        <p:spPr>
          <a:xfrm>
            <a:off x="6883400" y="2806700"/>
            <a:ext cx="381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C3E6B"/>
                </a:solidFill>
              </a:rPr>
              <a:t>No learning component yet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F37D90-215F-4DFA-85ED-B749F4D72E30}"/>
              </a:ext>
            </a:extLst>
          </p:cNvPr>
          <p:cNvSpPr/>
          <p:nvPr/>
        </p:nvSpPr>
        <p:spPr>
          <a:xfrm>
            <a:off x="914400" y="4000500"/>
            <a:ext cx="4826000" cy="1651000"/>
          </a:xfrm>
          <a:prstGeom prst="rect">
            <a:avLst/>
          </a:prstGeom>
          <a:solidFill>
            <a:srgbClr val="FFF4E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E7AD97-35D6-4544-851F-E3F5293F7375}"/>
              </a:ext>
            </a:extLst>
          </p:cNvPr>
          <p:cNvSpPr/>
          <p:nvPr/>
        </p:nvSpPr>
        <p:spPr>
          <a:xfrm>
            <a:off x="914400" y="4000500"/>
            <a:ext cx="63500" cy="1651000"/>
          </a:xfrm>
          <a:prstGeom prst="rect">
            <a:avLst/>
          </a:prstGeom>
          <a:solidFill>
            <a:srgbClr val="E856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CD52C784-9009-487F-96F4-E841BC097916}"/>
              </a:ext>
            </a:extLst>
          </p:cNvPr>
          <p:cNvSpPr/>
          <p:nvPr/>
        </p:nvSpPr>
        <p:spPr>
          <a:xfrm>
            <a:off x="1193800" y="4305300"/>
            <a:ext cx="355600" cy="330200"/>
          </a:xfrm>
          <a:prstGeom prst="triangle">
            <a:avLst/>
          </a:prstGeom>
          <a:solidFill>
            <a:srgbClr val="E856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3A3C0A-C214-4148-B656-4C74FB19DD24}"/>
              </a:ext>
            </a:extLst>
          </p:cNvPr>
          <p:cNvSpPr txBox="1"/>
          <p:nvPr/>
        </p:nvSpPr>
        <p:spPr>
          <a:xfrm>
            <a:off x="1676400" y="42799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1B2A4A"/>
                </a:solidFill>
              </a:rPr>
              <a:t>No external integrations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6E59C8-426B-4593-9FD0-5FA146591B4B}"/>
              </a:ext>
            </a:extLst>
          </p:cNvPr>
          <p:cNvSpPr txBox="1"/>
          <p:nvPr/>
        </p:nvSpPr>
        <p:spPr>
          <a:xfrm>
            <a:off x="1676400" y="4711700"/>
            <a:ext cx="381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C3E6B"/>
                </a:solidFill>
              </a:rPr>
              <a:t>Insurance / hospital APIs not wired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C7B0DD-6B24-4DB6-9658-4648F652DA45}"/>
              </a:ext>
            </a:extLst>
          </p:cNvPr>
          <p:cNvSpPr/>
          <p:nvPr/>
        </p:nvSpPr>
        <p:spPr>
          <a:xfrm>
            <a:off x="6121400" y="4000500"/>
            <a:ext cx="4826000" cy="1651000"/>
          </a:xfrm>
          <a:prstGeom prst="rect">
            <a:avLst/>
          </a:prstGeom>
          <a:solidFill>
            <a:srgbClr val="FFF4E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6A1093-6477-48E2-91E7-FE0295C5CC6D}"/>
              </a:ext>
            </a:extLst>
          </p:cNvPr>
          <p:cNvSpPr/>
          <p:nvPr/>
        </p:nvSpPr>
        <p:spPr>
          <a:xfrm>
            <a:off x="6121400" y="4000500"/>
            <a:ext cx="63500" cy="1651000"/>
          </a:xfrm>
          <a:prstGeom prst="rect">
            <a:avLst/>
          </a:prstGeom>
          <a:solidFill>
            <a:srgbClr val="E856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42C157D-5AF2-4CC0-9A39-2C774B78CEF7}"/>
              </a:ext>
            </a:extLst>
          </p:cNvPr>
          <p:cNvSpPr/>
          <p:nvPr/>
        </p:nvSpPr>
        <p:spPr>
          <a:xfrm>
            <a:off x="6400800" y="4305300"/>
            <a:ext cx="355600" cy="330200"/>
          </a:xfrm>
          <a:prstGeom prst="triangle">
            <a:avLst/>
          </a:prstGeom>
          <a:solidFill>
            <a:srgbClr val="E856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183F47-A49A-4D94-ABE0-1FF7EE4DB109}"/>
              </a:ext>
            </a:extLst>
          </p:cNvPr>
          <p:cNvSpPr txBox="1"/>
          <p:nvPr/>
        </p:nvSpPr>
        <p:spPr>
          <a:xfrm>
            <a:off x="6883400" y="42799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1B2A4A"/>
                </a:solidFill>
              </a:rPr>
              <a:t>OCR errors possible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EB9E47-DD1D-4909-8E2E-D96E7A998597}"/>
              </a:ext>
            </a:extLst>
          </p:cNvPr>
          <p:cNvSpPr txBox="1"/>
          <p:nvPr/>
        </p:nvSpPr>
        <p:spPr>
          <a:xfrm>
            <a:off x="6883400" y="4711700"/>
            <a:ext cx="381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C3E6B"/>
                </a:solidFill>
              </a:rPr>
              <a:t>Output quality depends on scan quality</a:t>
            </a:r>
          </a:p>
        </p:txBody>
      </p:sp>
    </p:spTree>
    <p:extLst>
      <p:ext uri="{BB962C8B-B14F-4D97-AF65-F5344CB8AC3E}">
        <p14:creationId xmlns:p14="http://schemas.microsoft.com/office/powerpoint/2010/main" val="2061449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B73EAC-B7C1-417E-9453-7768BED3F802}"/>
              </a:ext>
            </a:extLst>
          </p:cNvPr>
          <p:cNvSpPr txBox="1"/>
          <p:nvPr/>
        </p:nvSpPr>
        <p:spPr>
          <a:xfrm>
            <a:off x="914400" y="635000"/>
            <a:ext cx="10363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D7C66"/>
                </a:solidFill>
              </a:rPr>
              <a:t>13  /  FUTURE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C7FD46-3356-4712-ABAC-C7D8B73311D3}"/>
              </a:ext>
            </a:extLst>
          </p:cNvPr>
          <p:cNvSpPr txBox="1"/>
          <p:nvPr/>
        </p:nvSpPr>
        <p:spPr>
          <a:xfrm>
            <a:off x="914400" y="1016000"/>
            <a:ext cx="10363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B2A4A"/>
                </a:solidFill>
              </a:rPr>
              <a:t>Where this can go next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A7BCF1-FE2A-4E33-A860-E43FD9AA2861}"/>
              </a:ext>
            </a:extLst>
          </p:cNvPr>
          <p:cNvSpPr/>
          <p:nvPr/>
        </p:nvSpPr>
        <p:spPr>
          <a:xfrm>
            <a:off x="914400" y="1968500"/>
            <a:ext cx="4826000" cy="165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1E5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52AEF9E8-32A6-43BC-B4E1-6CBBA1EABC4F}"/>
              </a:ext>
            </a:extLst>
          </p:cNvPr>
          <p:cNvSpPr/>
          <p:nvPr/>
        </p:nvSpPr>
        <p:spPr>
          <a:xfrm>
            <a:off x="1143000" y="2578100"/>
            <a:ext cx="457200" cy="381000"/>
          </a:xfrm>
          <a:prstGeom prst="rightArrow">
            <a:avLst/>
          </a:prstGeom>
          <a:solidFill>
            <a:srgbClr val="6C5CE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C8ABE4-8F0C-418C-9D1D-EA078827E490}"/>
              </a:ext>
            </a:extLst>
          </p:cNvPr>
          <p:cNvSpPr txBox="1"/>
          <p:nvPr/>
        </p:nvSpPr>
        <p:spPr>
          <a:xfrm>
            <a:off x="1739900" y="22479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1B2A4A"/>
                </a:solidFill>
              </a:rPr>
              <a:t>ML-based fraud detection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0492C8-9C16-46B5-9993-0E12804776B8}"/>
              </a:ext>
            </a:extLst>
          </p:cNvPr>
          <p:cNvSpPr txBox="1"/>
          <p:nvPr/>
        </p:nvSpPr>
        <p:spPr>
          <a:xfrm>
            <a:off x="1739900" y="2679700"/>
            <a:ext cx="381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C3E6B"/>
                </a:solidFill>
              </a:rPr>
              <a:t>Move from rules to learned patterns once data is available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0EFC81-BE5E-497D-AAB3-DF65BFCA7796}"/>
              </a:ext>
            </a:extLst>
          </p:cNvPr>
          <p:cNvSpPr/>
          <p:nvPr/>
        </p:nvSpPr>
        <p:spPr>
          <a:xfrm>
            <a:off x="6121400" y="1968500"/>
            <a:ext cx="4826000" cy="165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1E5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AD04E96-C1B6-4D1F-A5B8-096F5EC9F71D}"/>
              </a:ext>
            </a:extLst>
          </p:cNvPr>
          <p:cNvSpPr/>
          <p:nvPr/>
        </p:nvSpPr>
        <p:spPr>
          <a:xfrm>
            <a:off x="6350000" y="2578100"/>
            <a:ext cx="457200" cy="381000"/>
          </a:xfrm>
          <a:prstGeom prst="rightArrow">
            <a:avLst/>
          </a:prstGeom>
          <a:solidFill>
            <a:srgbClr val="3A86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A63325-4CC7-4053-8624-62E7329F7DE9}"/>
              </a:ext>
            </a:extLst>
          </p:cNvPr>
          <p:cNvSpPr txBox="1"/>
          <p:nvPr/>
        </p:nvSpPr>
        <p:spPr>
          <a:xfrm>
            <a:off x="6946900" y="22479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1B2A4A"/>
                </a:solidFill>
              </a:rPr>
              <a:t>Better document understanding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B3D6C6-5FEB-4EA8-B250-B6FA0E1F88FB}"/>
              </a:ext>
            </a:extLst>
          </p:cNvPr>
          <p:cNvSpPr txBox="1"/>
          <p:nvPr/>
        </p:nvSpPr>
        <p:spPr>
          <a:xfrm>
            <a:off x="6946900" y="2679700"/>
            <a:ext cx="381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C3E6B"/>
                </a:solidFill>
              </a:rPr>
              <a:t>Layout-aware extraction and field disambiguation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83D6FC-6F76-401B-81A5-32E7220F3566}"/>
              </a:ext>
            </a:extLst>
          </p:cNvPr>
          <p:cNvSpPr/>
          <p:nvPr/>
        </p:nvSpPr>
        <p:spPr>
          <a:xfrm>
            <a:off x="914400" y="3873500"/>
            <a:ext cx="4826000" cy="165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1E5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338F863-E768-4FA5-83E2-45920FCF68DE}"/>
              </a:ext>
            </a:extLst>
          </p:cNvPr>
          <p:cNvSpPr/>
          <p:nvPr/>
        </p:nvSpPr>
        <p:spPr>
          <a:xfrm>
            <a:off x="1143000" y="4483100"/>
            <a:ext cx="457200" cy="381000"/>
          </a:xfrm>
          <a:prstGeom prst="rightArrow">
            <a:avLst/>
          </a:prstGeom>
          <a:solidFill>
            <a:srgbClr val="0D7C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61DA4F-662D-49E5-8F35-098CE87CFDF7}"/>
              </a:ext>
            </a:extLst>
          </p:cNvPr>
          <p:cNvSpPr txBox="1"/>
          <p:nvPr/>
        </p:nvSpPr>
        <p:spPr>
          <a:xfrm>
            <a:off x="1739900" y="41529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1B2A4A"/>
                </a:solidFill>
              </a:rPr>
              <a:t>Auto-approval for low risk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B6D612-031E-4F67-8CB8-4E3B406EC34A}"/>
              </a:ext>
            </a:extLst>
          </p:cNvPr>
          <p:cNvSpPr txBox="1"/>
          <p:nvPr/>
        </p:nvSpPr>
        <p:spPr>
          <a:xfrm>
            <a:off x="1739900" y="4584700"/>
            <a:ext cx="381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C3E6B"/>
                </a:solidFill>
              </a:rPr>
              <a:t>Free up approver time for high-risk cases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683AF0-D0FD-4620-ADDF-C22FE5C089CF}"/>
              </a:ext>
            </a:extLst>
          </p:cNvPr>
          <p:cNvSpPr/>
          <p:nvPr/>
        </p:nvSpPr>
        <p:spPr>
          <a:xfrm>
            <a:off x="6121400" y="3873500"/>
            <a:ext cx="4826000" cy="165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1E5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D79BEE61-35AE-4363-84F0-A25A56882904}"/>
              </a:ext>
            </a:extLst>
          </p:cNvPr>
          <p:cNvSpPr/>
          <p:nvPr/>
        </p:nvSpPr>
        <p:spPr>
          <a:xfrm>
            <a:off x="6350000" y="4483100"/>
            <a:ext cx="457200" cy="381000"/>
          </a:xfrm>
          <a:prstGeom prst="rightArrow">
            <a:avLst/>
          </a:prstGeom>
          <a:solidFill>
            <a:srgbClr val="F4A9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AFB00C-AD84-44AE-AAC8-2F528AB0256B}"/>
              </a:ext>
            </a:extLst>
          </p:cNvPr>
          <p:cNvSpPr txBox="1"/>
          <p:nvPr/>
        </p:nvSpPr>
        <p:spPr>
          <a:xfrm>
            <a:off x="6946900" y="41529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1B2A4A"/>
                </a:solidFill>
              </a:rPr>
              <a:t>Hospital / insurer APIs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510033-A614-4B13-9EF5-A52992232F2A}"/>
              </a:ext>
            </a:extLst>
          </p:cNvPr>
          <p:cNvSpPr txBox="1"/>
          <p:nvPr/>
        </p:nvSpPr>
        <p:spPr>
          <a:xfrm>
            <a:off x="6946900" y="4584700"/>
            <a:ext cx="381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C3E6B"/>
                </a:solidFill>
              </a:rPr>
              <a:t>Pull authoritative data instead of re-typing it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C4021D-78A4-40D5-96B1-DFE71DA2F04D}"/>
              </a:ext>
            </a:extLst>
          </p:cNvPr>
          <p:cNvSpPr txBox="1"/>
          <p:nvPr/>
        </p:nvSpPr>
        <p:spPr>
          <a:xfrm>
            <a:off x="914400" y="5842000"/>
            <a:ext cx="10363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0D7C66"/>
                </a:solidFill>
              </a:rPr>
              <a:t>Architecture was built for these extensions, not just today's features</a:t>
            </a:r>
          </a:p>
        </p:txBody>
      </p:sp>
    </p:spTree>
    <p:extLst>
      <p:ext uri="{BB962C8B-B14F-4D97-AF65-F5344CB8AC3E}">
        <p14:creationId xmlns:p14="http://schemas.microsoft.com/office/powerpoint/2010/main" val="3845706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B2438E-281F-460F-A5A6-66E40C4E7666}"/>
              </a:ext>
            </a:extLst>
          </p:cNvPr>
          <p:cNvSpPr txBox="1"/>
          <p:nvPr/>
        </p:nvSpPr>
        <p:spPr>
          <a:xfrm>
            <a:off x="914400" y="635000"/>
            <a:ext cx="10363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D7C66"/>
                </a:solidFill>
              </a:rPr>
              <a:t>14  /  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8E62FE-45E1-462A-A5E9-BEB1DAE26865}"/>
              </a:ext>
            </a:extLst>
          </p:cNvPr>
          <p:cNvSpPr txBox="1"/>
          <p:nvPr/>
        </p:nvSpPr>
        <p:spPr>
          <a:xfrm>
            <a:off x="914400" y="1016000"/>
            <a:ext cx="10363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B2A4A"/>
                </a:solidFill>
              </a:rPr>
              <a:t>What this system delivers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FA2E12-E125-42BE-B2CD-78D457593878}"/>
              </a:ext>
            </a:extLst>
          </p:cNvPr>
          <p:cNvSpPr txBox="1"/>
          <p:nvPr/>
        </p:nvSpPr>
        <p:spPr>
          <a:xfrm>
            <a:off x="914400" y="1651000"/>
            <a:ext cx="10363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2C3E6B"/>
                </a:solidFill>
              </a:rPr>
              <a:t>Decision support, not full automation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A2D54-2675-4517-8F4E-EBA4504410B7}"/>
              </a:ext>
            </a:extLst>
          </p:cNvPr>
          <p:cNvSpPr txBox="1"/>
          <p:nvPr/>
        </p:nvSpPr>
        <p:spPr>
          <a:xfrm>
            <a:off x="914400" y="2286000"/>
            <a:ext cx="88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0D7C66"/>
                </a:solidFill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5F1AB3-53A1-486E-B6EB-746FA79B5587}"/>
              </a:ext>
            </a:extLst>
          </p:cNvPr>
          <p:cNvSpPr txBox="1"/>
          <p:nvPr/>
        </p:nvSpPr>
        <p:spPr>
          <a:xfrm>
            <a:off x="1905000" y="23368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1B2A4A"/>
                </a:solidFill>
              </a:rPr>
              <a:t>Reduces manual effort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2D39AF-9DE0-4706-BB71-611913426DF6}"/>
              </a:ext>
            </a:extLst>
          </p:cNvPr>
          <p:cNvSpPr txBox="1"/>
          <p:nvPr/>
        </p:nvSpPr>
        <p:spPr>
          <a:xfrm>
            <a:off x="6477000" y="2387600"/>
            <a:ext cx="482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C3E6B"/>
                </a:solidFill>
              </a:rPr>
              <a:t>Approvers stop reading every page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AF7BCB-C5DC-4780-9B2E-565ACFA569CD}"/>
              </a:ext>
            </a:extLst>
          </p:cNvPr>
          <p:cNvSpPr/>
          <p:nvPr/>
        </p:nvSpPr>
        <p:spPr>
          <a:xfrm>
            <a:off x="914400" y="3009900"/>
            <a:ext cx="10363200" cy="12700"/>
          </a:xfrm>
          <a:prstGeom prst="rect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74902C-0C34-4A2B-8E82-B4DAB48955C2}"/>
              </a:ext>
            </a:extLst>
          </p:cNvPr>
          <p:cNvSpPr txBox="1"/>
          <p:nvPr/>
        </p:nvSpPr>
        <p:spPr>
          <a:xfrm>
            <a:off x="914400" y="3111500"/>
            <a:ext cx="88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0D7C66"/>
                </a:solidFill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96DF0C-A740-488D-A793-A3456519E877}"/>
              </a:ext>
            </a:extLst>
          </p:cNvPr>
          <p:cNvSpPr txBox="1"/>
          <p:nvPr/>
        </p:nvSpPr>
        <p:spPr>
          <a:xfrm>
            <a:off x="1905000" y="31623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1B2A4A"/>
                </a:solidFill>
              </a:rPr>
              <a:t>Highlights risky claims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27BB52-7E59-4C33-BC90-6645BDA550E6}"/>
              </a:ext>
            </a:extLst>
          </p:cNvPr>
          <p:cNvSpPr txBox="1"/>
          <p:nvPr/>
        </p:nvSpPr>
        <p:spPr>
          <a:xfrm>
            <a:off x="6477000" y="3213100"/>
            <a:ext cx="482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C3E6B"/>
                </a:solidFill>
              </a:rPr>
              <a:t>Risk score and warnings surface what matters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8CF4DE-7097-43A3-9421-1F56631A414C}"/>
              </a:ext>
            </a:extLst>
          </p:cNvPr>
          <p:cNvSpPr/>
          <p:nvPr/>
        </p:nvSpPr>
        <p:spPr>
          <a:xfrm>
            <a:off x="914400" y="3835400"/>
            <a:ext cx="10363200" cy="12700"/>
          </a:xfrm>
          <a:prstGeom prst="rect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E520E5-9B18-4D53-BE74-579CF2FA24DE}"/>
              </a:ext>
            </a:extLst>
          </p:cNvPr>
          <p:cNvSpPr txBox="1"/>
          <p:nvPr/>
        </p:nvSpPr>
        <p:spPr>
          <a:xfrm>
            <a:off x="914400" y="3937000"/>
            <a:ext cx="88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0D7C66"/>
                </a:solidFill>
              </a:rPr>
              <a:t>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1E8B2C-6178-4DF4-A8F4-1E09CF9B142F}"/>
              </a:ext>
            </a:extLst>
          </p:cNvPr>
          <p:cNvSpPr txBox="1"/>
          <p:nvPr/>
        </p:nvSpPr>
        <p:spPr>
          <a:xfrm>
            <a:off x="1905000" y="39878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1B2A4A"/>
                </a:solidFill>
              </a:rPr>
              <a:t>Improves decision speed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31A504-7249-470A-AB63-DE3803EFCFBB}"/>
              </a:ext>
            </a:extLst>
          </p:cNvPr>
          <p:cNvSpPr txBox="1"/>
          <p:nvPr/>
        </p:nvSpPr>
        <p:spPr>
          <a:xfrm>
            <a:off x="6477000" y="4038600"/>
            <a:ext cx="482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C3E6B"/>
                </a:solidFill>
              </a:rPr>
              <a:t>Pre-validated data, ready for review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82774A-054E-4AC5-B4E9-B9B795A08D25}"/>
              </a:ext>
            </a:extLst>
          </p:cNvPr>
          <p:cNvSpPr/>
          <p:nvPr/>
        </p:nvSpPr>
        <p:spPr>
          <a:xfrm>
            <a:off x="914400" y="4660900"/>
            <a:ext cx="10363200" cy="12700"/>
          </a:xfrm>
          <a:prstGeom prst="rect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A1F349-0670-403A-8B53-0DB4F47E4A1A}"/>
              </a:ext>
            </a:extLst>
          </p:cNvPr>
          <p:cNvSpPr txBox="1"/>
          <p:nvPr/>
        </p:nvSpPr>
        <p:spPr>
          <a:xfrm>
            <a:off x="914400" y="4762500"/>
            <a:ext cx="88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0D7C66"/>
                </a:solidFill>
              </a:rPr>
              <a:t>04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0BD9A4-157A-4234-9859-03F70ADEB88B}"/>
              </a:ext>
            </a:extLst>
          </p:cNvPr>
          <p:cNvSpPr txBox="1"/>
          <p:nvPr/>
        </p:nvSpPr>
        <p:spPr>
          <a:xfrm>
            <a:off x="1905000" y="48133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1B2A4A"/>
                </a:solidFill>
              </a:rPr>
              <a:t>Keeps human control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E932E9-FE89-4090-854F-3DF8B2A7B498}"/>
              </a:ext>
            </a:extLst>
          </p:cNvPr>
          <p:cNvSpPr txBox="1"/>
          <p:nvPr/>
        </p:nvSpPr>
        <p:spPr>
          <a:xfrm>
            <a:off x="6477000" y="4864100"/>
            <a:ext cx="482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C3E6B"/>
                </a:solidFill>
              </a:rPr>
              <a:t>Final approve / reject stays with the approver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433C1B-2C82-4675-83B0-8BA70AF8B7D9}"/>
              </a:ext>
            </a:extLst>
          </p:cNvPr>
          <p:cNvSpPr/>
          <p:nvPr/>
        </p:nvSpPr>
        <p:spPr>
          <a:xfrm>
            <a:off x="914400" y="5969000"/>
            <a:ext cx="50800" cy="381000"/>
          </a:xfrm>
          <a:prstGeom prst="rect">
            <a:avLst/>
          </a:prstGeom>
          <a:solidFill>
            <a:srgbClr val="0D7C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8325F9-F5DA-4911-A3F9-AB8A22A45DE6}"/>
              </a:ext>
            </a:extLst>
          </p:cNvPr>
          <p:cNvSpPr txBox="1"/>
          <p:nvPr/>
        </p:nvSpPr>
        <p:spPr>
          <a:xfrm>
            <a:off x="1143000" y="59944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B2A4A"/>
                </a:solidFill>
              </a:rPr>
              <a:t>A structured system solving a real problem.</a:t>
            </a:r>
          </a:p>
        </p:txBody>
      </p:sp>
    </p:spTree>
    <p:extLst>
      <p:ext uri="{BB962C8B-B14F-4D97-AF65-F5344CB8AC3E}">
        <p14:creationId xmlns:p14="http://schemas.microsoft.com/office/powerpoint/2010/main" val="104909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7795673189]">
  <a:themeElements>
    <a:clrScheme name="Office">
      <a:dk1>
        <a:srgbClr val="1B2A4A"/>
      </a:dk1>
      <a:lt1>
        <a:srgbClr val="FFFFFF"/>
      </a:lt1>
      <a:dk2>
        <a:srgbClr val="2C3E6B"/>
      </a:dk2>
      <a:lt2>
        <a:srgbClr val="F0F2F5"/>
      </a:lt2>
      <a:accent1>
        <a:srgbClr val="0D7C66"/>
      </a:accent1>
      <a:accent2>
        <a:srgbClr val="E8563A"/>
      </a:accent2>
      <a:accent3>
        <a:srgbClr val="3A86C4"/>
      </a:accent3>
      <a:accent4>
        <a:srgbClr val="F4A940"/>
      </a:accent4>
      <a:accent5>
        <a:srgbClr val="6C5CE7"/>
      </a:accent5>
      <a:accent6>
        <a:srgbClr val="2ECC71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ec8601e-c82d-4e92-9b40-c66cff49efa2}">
  <we:reference id="WA200010001" version="1.0.0.1" store="en-001" storeType="OMEX"/>
  <we:alternateReferences/>
  <we:properties/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0" runtimeId="Taskpane.Url"/>
    </a:ext>
  </we:extLst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7" ma:contentTypeDescription="Create a new document." ma:contentTypeScope="" ma:versionID="494388dab000d3589ee33216531581af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bac03f58105d2ec42145d3be0283fbe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  <xsd:element ref="ns2:Last_x0020_Modified_x0020_b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Last_x0020_Modified_x0020_by" ma:index="22" nillable="true" ma:displayName="Last Modified by" ma:description="Last Modified by" ma:format="Dropdown" ma:list="UserInfo" ma:SharePointGroup="0" ma:internalName="Last_x0020_Modified_x0020_by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  <Last_x0020_Modified_x0020_by xmlns="f577acbf-5b0b-4b4f-9948-268e97f8d3a4">
      <UserInfo>
        <DisplayName/>
        <AccountId xsi:nil="true"/>
        <AccountType/>
      </UserInfo>
    </Last_x0020_Modified_x0020_by>
  </documentManagement>
</p:properties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B243679-E22B-4C99-B57E-4328813775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Widescreen</PresentationFormat>
  <Paragraphs>12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 [1777795673189]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44</cp:revision>
  <dcterms:created xsi:type="dcterms:W3CDTF">2026-05-03T08:02:38Z</dcterms:created>
  <dcterms:modified xsi:type="dcterms:W3CDTF">2026-05-03T08:27:39Z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